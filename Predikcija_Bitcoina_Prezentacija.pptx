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30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2304288"/>
            <a:ext cx="8503920" cy="274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</a:rPr>
              <a:t>Boris Letić</a:t>
            </a:r>
            <a:r>
              <a:rPr lang="en-US" sz="1500" dirty="0">
                <a:solidFill>
                  <a:srgbClr val="6B7A8D"/>
                </a:solidFill>
              </a:rPr>
              <a:t>  (E2 126/2025)   ·   Sentiment </a:t>
            </a:r>
            <a:r>
              <a:rPr lang="en-US" sz="1500" dirty="0" err="1">
                <a:solidFill>
                  <a:srgbClr val="6B7A8D"/>
                </a:solidFill>
              </a:rPr>
              <a:t>analiza</a:t>
            </a:r>
            <a:r>
              <a:rPr lang="en-US" sz="1500" dirty="0">
                <a:solidFill>
                  <a:srgbClr val="6B7A8D"/>
                </a:solidFill>
              </a:rPr>
              <a:t> - BERT, GRU, BiLSTM</a:t>
            </a: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</a:rPr>
              <a:t>Bogdan Čiplić</a:t>
            </a:r>
            <a:r>
              <a:rPr lang="en-US" sz="1500" dirty="0">
                <a:solidFill>
                  <a:srgbClr val="6B7A8D"/>
                </a:solidFill>
              </a:rPr>
              <a:t>  (R2 28/2025)   ·   Cenovne </a:t>
            </a:r>
            <a:r>
              <a:rPr lang="en-US" sz="1500" dirty="0" err="1">
                <a:solidFill>
                  <a:srgbClr val="6B7A8D"/>
                </a:solidFill>
              </a:rPr>
              <a:t>serije</a:t>
            </a:r>
            <a:r>
              <a:rPr lang="en-US" sz="1500" dirty="0">
                <a:solidFill>
                  <a:srgbClr val="6B7A8D"/>
                </a:solidFill>
              </a:rPr>
              <a:t> - LSTM, Fuzija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3474720"/>
            <a:ext cx="260604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7931A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3474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931A"/>
                </a:solidFill>
              </a:rPr>
              <a:t>BERT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474720"/>
            <a:ext cx="260604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7931A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3474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931A"/>
                </a:solidFill>
              </a:rPr>
              <a:t>GRU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3474720"/>
            <a:ext cx="260604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7931A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3474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931A"/>
                </a:solidFill>
              </a:rPr>
              <a:t>BiLSTM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950208"/>
            <a:ext cx="260604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7931A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950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931A"/>
                </a:solidFill>
              </a:rPr>
              <a:t>LSTM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3950208"/>
            <a:ext cx="260604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7931A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0" y="3950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931A"/>
                </a:solidFill>
              </a:rPr>
              <a:t>Multi-Head Attention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950208"/>
            <a:ext cx="260604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7931A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80760" y="3950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931A"/>
                </a:solidFill>
              </a:rPr>
              <a:t>Novi Sad, 2026.</a:t>
            </a:r>
            <a:endParaRPr lang="en-US" sz="1100" dirty="0"/>
          </a:p>
        </p:txBody>
      </p:sp>
      <p:sp>
        <p:nvSpPr>
          <p:cNvPr id="21" name="Text 4"/>
          <p:cNvSpPr/>
          <p:nvPr/>
        </p:nvSpPr>
        <p:spPr>
          <a:xfrm>
            <a:off x="320040" y="914400"/>
            <a:ext cx="8131629" cy="1321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 err="1">
                <a:solidFill>
                  <a:schemeClr val="bg1"/>
                </a:solidFill>
              </a:rPr>
              <a:t>Predikcija</a:t>
            </a:r>
            <a:r>
              <a:rPr lang="en-US" sz="2000" dirty="0">
                <a:solidFill>
                  <a:schemeClr val="bg1"/>
                </a:solidFill>
              </a:rPr>
              <a:t> Bitcoin </a:t>
            </a:r>
            <a:r>
              <a:rPr lang="en-US" sz="2000" dirty="0" err="1">
                <a:solidFill>
                  <a:schemeClr val="bg1"/>
                </a:solidFill>
              </a:rPr>
              <a:t>cene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korišćenjem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multimodalnih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dubokih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neuronskih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mreža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274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7931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02920" cy="1005840"/>
          </a:xfrm>
          <a:prstGeom prst="rect">
            <a:avLst/>
          </a:prstGeom>
          <a:solidFill>
            <a:srgbClr val="F7931A">
              <a:alpha val="80000"/>
            </a:srgbClr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0972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</a:rPr>
              <a:t>Motivacija i definicija problema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2062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7931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502920" cy="1005840"/>
          </a:xfrm>
          <a:prstGeom prst="rect">
            <a:avLst/>
          </a:prstGeom>
          <a:solidFill>
            <a:srgbClr val="F7931A">
              <a:alpha val="80000"/>
            </a:srgbClr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0972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</a:rPr>
              <a:t>Skup podataka i EDA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42062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7931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502920" cy="1005840"/>
          </a:xfrm>
          <a:prstGeom prst="rect">
            <a:avLst/>
          </a:prstGeom>
          <a:solidFill>
            <a:srgbClr val="F7931A">
              <a:alpha val="80000"/>
            </a:srgbClr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286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2860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</a:rPr>
              <a:t>Arhitektura </a:t>
            </a:r>
            <a:r>
              <a:rPr lang="en-US" sz="1400" dirty="0" err="1">
                <a:solidFill>
                  <a:srgbClr val="F0F4F8"/>
                </a:solidFill>
              </a:rPr>
              <a:t>sistema</a:t>
            </a:r>
            <a:r>
              <a:rPr lang="en-US" sz="1400" dirty="0">
                <a:solidFill>
                  <a:srgbClr val="F0F4F8"/>
                </a:solidFill>
              </a:rPr>
              <a:t> - Sentiment grana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2062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7931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502920" cy="1005840"/>
          </a:xfrm>
          <a:prstGeom prst="rect">
            <a:avLst/>
          </a:prstGeom>
          <a:solidFill>
            <a:srgbClr val="F7931A">
              <a:alpha val="80000"/>
            </a:srgbClr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286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49240" y="22860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</a:rPr>
              <a:t>Arhitektura </a:t>
            </a:r>
            <a:r>
              <a:rPr lang="en-US" sz="1400" dirty="0" err="1">
                <a:solidFill>
                  <a:srgbClr val="F0F4F8"/>
                </a:solidFill>
              </a:rPr>
              <a:t>sistema</a:t>
            </a:r>
            <a:r>
              <a:rPr lang="en-US" sz="1400" dirty="0">
                <a:solidFill>
                  <a:srgbClr val="F0F4F8"/>
                </a:solidFill>
              </a:rPr>
              <a:t> - Cenovna grana i fuzija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3474720"/>
            <a:ext cx="42062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7931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474720"/>
            <a:ext cx="502920" cy="1005840"/>
          </a:xfrm>
          <a:prstGeom prst="rect">
            <a:avLst/>
          </a:prstGeom>
          <a:solidFill>
            <a:srgbClr val="F7931A">
              <a:alpha val="80000"/>
            </a:srgbClr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474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34747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</a:rPr>
              <a:t>Rezultati i evaluacija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474720"/>
            <a:ext cx="42062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7931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3474720"/>
            <a:ext cx="502920" cy="1005840"/>
          </a:xfrm>
          <a:prstGeom prst="rect">
            <a:avLst/>
          </a:prstGeom>
          <a:solidFill>
            <a:srgbClr val="F7931A">
              <a:alpha val="80000"/>
            </a:srgbClr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474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9240" y="34747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</a:rPr>
              <a:t>Analiza grešaka i zaključak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931A"/>
                </a:solidFill>
              </a:rPr>
              <a:t>01  Motivacija i definicija problema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64008" cy="80467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005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Bitcoin tržište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26187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</a:rPr>
              <a:t>Ekstremna volatilnost, bez fundamentalnih </a:t>
            </a:r>
            <a:r>
              <a:rPr lang="en-US" sz="1100" dirty="0" err="1">
                <a:solidFill>
                  <a:srgbClr val="6B7A8D"/>
                </a:solidFill>
              </a:rPr>
              <a:t>indikatora</a:t>
            </a:r>
            <a:r>
              <a:rPr lang="en-US" sz="1100" dirty="0">
                <a:solidFill>
                  <a:srgbClr val="6B7A8D"/>
                </a:solidFill>
              </a:rPr>
              <a:t> - sentiment je ključni signal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64008" cy="80467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" y="1901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Twitter lag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15798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</a:rPr>
              <a:t>Istraživanja pokazuju 6–12h pomak između Twitter sentimenta i cene [Karami, 2022]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98064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798064"/>
            <a:ext cx="64008" cy="80467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" y="27980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Multimodalnost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305409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</a:rPr>
              <a:t>Postojeći pristupi tretiraju sentiment i cenu </a:t>
            </a:r>
            <a:r>
              <a:rPr lang="en-US" sz="1100" dirty="0" err="1">
                <a:solidFill>
                  <a:srgbClr val="6B7A8D"/>
                </a:solidFill>
              </a:rPr>
              <a:t>odvojeno</a:t>
            </a:r>
            <a:r>
              <a:rPr lang="en-US" sz="1100" dirty="0">
                <a:solidFill>
                  <a:srgbClr val="6B7A8D"/>
                </a:solidFill>
              </a:rPr>
              <a:t> - mi ih spajamo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94176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694176"/>
            <a:ext cx="64008" cy="80467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9768" y="36941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Dva zadatka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95020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</a:rPr>
              <a:t>Regresija: predikcija cene za 24h/48h/7d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</a:rPr>
              <a:t>Klasifikacija: pravac (RAST/PAD/STABILNO, ±2%)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005840"/>
            <a:ext cx="3200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Sistem u jednom pogledu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06440" y="1463040"/>
            <a:ext cx="132588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1CB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06440" y="1463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B5E0"/>
                </a:solidFill>
              </a:rPr>
              <a:t> Twitter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B5E0"/>
                </a:solidFill>
              </a:rPr>
              <a:t>Tvitovi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1463040"/>
            <a:ext cx="14173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931A"/>
                </a:solidFill>
              </a:rPr>
              <a:t> Binance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7931A"/>
                </a:solidFill>
              </a:rPr>
              <a:t>OHLCV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64808" y="1993392"/>
            <a:ext cx="0" cy="320040"/>
          </a:xfrm>
          <a:prstGeom prst="line">
            <a:avLst/>
          </a:prstGeom>
          <a:noFill/>
          <a:ln w="19050">
            <a:solidFill>
              <a:srgbClr val="1CB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19288" y="1993392"/>
            <a:ext cx="0" cy="320040"/>
          </a:xfrm>
          <a:prstGeom prst="line">
            <a:avLst/>
          </a:prstGeom>
          <a:noFill/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806440" y="2313432"/>
            <a:ext cx="13258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1CB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06440" y="231343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B5E0"/>
                </a:solidFill>
              </a:rPr>
              <a:t>BERT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B5E0"/>
                </a:solidFill>
              </a:rPr>
              <a:t>+ GRU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B5E0"/>
                </a:solidFill>
              </a:rPr>
              <a:t>64-dim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0" y="2313432"/>
            <a:ext cx="141732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0" y="23134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7931A"/>
                </a:solidFill>
              </a:rPr>
              <a:t>Stacked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7931A"/>
                </a:solidFill>
              </a:rPr>
              <a:t>LSTM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7931A"/>
                </a:solidFill>
              </a:rPr>
              <a:t>64-dim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64808" y="2980944"/>
            <a:ext cx="0" cy="274320"/>
          </a:xfrm>
          <a:prstGeom prst="line">
            <a:avLst/>
          </a:prstGeom>
          <a:noFill/>
          <a:ln w="19050">
            <a:solidFill>
              <a:srgbClr val="1CB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019288" y="2980944"/>
            <a:ext cx="0" cy="274320"/>
          </a:xfrm>
          <a:prstGeom prst="line">
            <a:avLst/>
          </a:prstGeom>
          <a:noFill/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64808" y="3255264"/>
            <a:ext cx="1554480" cy="0"/>
          </a:xfrm>
          <a:prstGeom prst="line">
            <a:avLst/>
          </a:prstGeom>
          <a:noFill/>
          <a:ln w="1905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09360" y="3255264"/>
            <a:ext cx="16002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09360" y="325526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D4BF"/>
                </a:solidFill>
              </a:rPr>
              <a:t>Multi-Head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D4BF"/>
                </a:solidFill>
              </a:rPr>
              <a:t>Attention Fuzija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04888" y="3785616"/>
            <a:ext cx="0" cy="27432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09360" y="4059936"/>
            <a:ext cx="1600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09360" y="405993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931A"/>
                </a:solidFill>
              </a:rPr>
              <a:t>Regresija / Klasifikacija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931A"/>
                </a:solidFill>
              </a:rPr>
              <a:t>02  Skup podataka &amp; EDA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Twitter sentiment podaci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B5E0"/>
                </a:solidFill>
              </a:rPr>
              <a:t>12.120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tvitova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1261872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23160" y="12618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B5E0"/>
                </a:solidFill>
              </a:rPr>
              <a:t>47.2% / 35.1% / 17.7%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1737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Neutral / Poz / Neg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261872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2618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B5E0"/>
                </a:solidFill>
              </a:rPr>
              <a:t>4.406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jedinstvenih korisnika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1261872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20840" y="12618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B5E0"/>
                </a:solidFill>
              </a:rPr>
              <a:t>Jan-Maj 2024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1737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period prikupljanja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Podaci o ceni Bitcoina (Binance)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633472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6334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931A"/>
                </a:solidFill>
              </a:rPr>
              <a:t>3.625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4320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satnih OHLCV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23160" y="2633472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23160" y="26334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931A"/>
                </a:solidFill>
              </a:rPr>
              <a:t>$32.704-$56.336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raspon cene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2633472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26334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931A"/>
                </a:solidFill>
              </a:rPr>
              <a:t>1,404%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0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satna volatilnost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20840" y="2633472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20840" y="26334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931A"/>
                </a:solidFill>
              </a:rPr>
              <a:t>14 indikatora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20840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RSI/MACD/BB/ATR…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3657600"/>
            <a:ext cx="73152" cy="123444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675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31A"/>
                </a:solidFill>
              </a:rPr>
              <a:t>Ključni EDA nalaz: nulta linearna </a:t>
            </a:r>
            <a:r>
              <a:rPr lang="en-US" sz="1300" b="1" dirty="0" err="1">
                <a:solidFill>
                  <a:srgbClr val="F7931A"/>
                </a:solidFill>
              </a:rPr>
              <a:t>korelacija</a:t>
            </a:r>
            <a:r>
              <a:rPr lang="en-US" sz="1300" b="1" dirty="0">
                <a:solidFill>
                  <a:srgbClr val="F7931A"/>
                </a:solidFill>
              </a:rPr>
              <a:t> sentiment-</a:t>
            </a:r>
            <a:r>
              <a:rPr lang="en-US" sz="1300" b="1" dirty="0" err="1">
                <a:solidFill>
                  <a:srgbClr val="F7931A"/>
                </a:solidFill>
              </a:rPr>
              <a:t>cena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023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Pearsonov ρ ∈ [-0.009, -0.017] za sve lag vrednosti (0h–48h), p &gt; 0.3 - statistički beznačajno.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Ovo motiviše nelinearne duboke modele i objašnjava zašto izolovani LSTM ne nadmašuje naivni baseline.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B5E0"/>
                </a:solidFill>
              </a:rPr>
              <a:t>03  Sentiment grana - BERT + GRU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6002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6B7A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914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A8D"/>
                </a:solidFill>
              </a:rPr>
              <a:t>TF-IDF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B7A8D"/>
                </a:solidFill>
              </a:rPr>
              <a:t>3.000 termina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" y="1508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GRU ulaz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01368" y="1371600"/>
            <a:ext cx="164592" cy="0"/>
          </a:xfrm>
          <a:prstGeom prst="line">
            <a:avLst/>
          </a:prstGeom>
          <a:noFill/>
          <a:ln w="1905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65960" y="914400"/>
            <a:ext cx="16002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CB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65960" y="914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B5E0"/>
                </a:solidFill>
              </a:rPr>
              <a:t>BERT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B5E0"/>
                </a:solidFill>
              </a:rPr>
              <a:t>bert-base-uncased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1508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110M param.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84448" y="1371600"/>
            <a:ext cx="164592" cy="0"/>
          </a:xfrm>
          <a:prstGeom prst="line">
            <a:avLst/>
          </a:prstGeom>
          <a:noFill/>
          <a:ln w="1905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49040" y="914400"/>
            <a:ext cx="16002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CB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914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1CB5E0"/>
                </a:solidFill>
              </a:rPr>
              <a:t>Slojevi</a:t>
            </a:r>
            <a:r>
              <a:rPr lang="en-US" sz="1100" b="1" dirty="0">
                <a:solidFill>
                  <a:srgbClr val="1CB5E0"/>
                </a:solidFill>
              </a:rPr>
              <a:t> 8-11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B5E0"/>
                </a:solidFill>
              </a:rPr>
              <a:t>odmrznuti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1508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28.9M trenabilnih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67528" y="1371600"/>
            <a:ext cx="164592" cy="0"/>
          </a:xfrm>
          <a:prstGeom prst="line">
            <a:avLst/>
          </a:prstGeom>
          <a:noFill/>
          <a:ln w="1905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32120" y="914400"/>
            <a:ext cx="160020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32120" y="914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GRU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128→64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32120" y="1508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421K param.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50608" y="1371600"/>
            <a:ext cx="164592" cy="0"/>
          </a:xfrm>
          <a:prstGeom prst="line">
            <a:avLst/>
          </a:prstGeom>
          <a:noFill/>
          <a:ln w="1905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0" y="914400"/>
            <a:ext cx="16002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793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0" y="914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931A"/>
                </a:solidFill>
              </a:rPr>
              <a:t>64-dim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7931A"/>
                </a:solidFill>
              </a:rPr>
              <a:t>Embedding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1508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izlaz za fuziju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Rezultati klasifikatora sentimenta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2423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VADER Simple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64208" y="2468880"/>
            <a:ext cx="1920240" cy="256032"/>
          </a:xfrm>
          <a:prstGeom prst="rect">
            <a:avLst/>
          </a:prstGeom>
          <a:solidFill>
            <a:srgbClr val="F87171">
              <a:alpha val="7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83080" y="24296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41.8%  (F1=0.419)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28437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VADER + LR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64208" y="2910078"/>
            <a:ext cx="2560320" cy="256032"/>
          </a:xfrm>
          <a:prstGeom prst="rect">
            <a:avLst/>
          </a:prstGeom>
          <a:solidFill>
            <a:srgbClr val="F87171">
              <a:alpha val="7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01368" y="286991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55.9%  (F1=0.550)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3264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BERT zamrznut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664208" y="3329722"/>
            <a:ext cx="3429000" cy="2560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783080" y="3277471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75%  (F1=0.75)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3685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BERT odmrznut 8–11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64208" y="3740549"/>
            <a:ext cx="4443984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783080" y="3693523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97.2%  (F1=0.972)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105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BiLSTM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664208" y="4179461"/>
            <a:ext cx="4480560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798755" y="412459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97.9%  (F1=0.980)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526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GRU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664208" y="4582450"/>
            <a:ext cx="4480560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801368" y="4536729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97.9%  (F1=0.980)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2011680"/>
            <a:ext cx="2514600" cy="2880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4652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931A"/>
                </a:solidFill>
              </a:rPr>
              <a:t>Ključni nalazi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46520" y="2487168"/>
            <a:ext cx="54864" cy="384048"/>
          </a:xfrm>
          <a:prstGeom prst="rect">
            <a:avLst/>
          </a:prstGeom>
          <a:solidFill>
            <a:srgbClr val="1CB5E0"/>
          </a:solidFill>
          <a:ln w="12700">
            <a:solidFill>
              <a:srgbClr val="1CB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37960" y="24688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GRU = BiLSTM = odmrznutom BERT-u (97.9%) uz 68× manje parametara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46520" y="3035808"/>
            <a:ext cx="54864" cy="384048"/>
          </a:xfrm>
          <a:prstGeom prst="rect">
            <a:avLst/>
          </a:prstGeom>
          <a:solidFill>
            <a:srgbClr val="1CB5E0"/>
          </a:solidFill>
          <a:ln w="12700">
            <a:solidFill>
              <a:srgbClr val="1CB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37960" y="30175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Odmrzavanje </a:t>
            </a:r>
            <a:r>
              <a:rPr lang="en-US" sz="950" dirty="0" err="1">
                <a:solidFill>
                  <a:srgbClr val="F0F4F8"/>
                </a:solidFill>
              </a:rPr>
              <a:t>slojeva</a:t>
            </a:r>
            <a:r>
              <a:rPr lang="en-US" sz="950" dirty="0">
                <a:solidFill>
                  <a:srgbClr val="F0F4F8"/>
                </a:solidFill>
              </a:rPr>
              <a:t> 8-11 uz discriminative lr podiglo recall negativne klase: 70% → 94.4%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46520" y="3584448"/>
            <a:ext cx="54864" cy="384048"/>
          </a:xfrm>
          <a:prstGeom prst="rect">
            <a:avLst/>
          </a:prstGeom>
          <a:solidFill>
            <a:srgbClr val="1CB5E0"/>
          </a:solidFill>
          <a:ln w="12700">
            <a:solidFill>
              <a:srgbClr val="1CB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537960" y="35661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Samo domenski trening donosi </a:t>
            </a:r>
            <a:r>
              <a:rPr lang="en-US" sz="950" dirty="0" err="1">
                <a:solidFill>
                  <a:srgbClr val="F0F4F8"/>
                </a:solidFill>
              </a:rPr>
              <a:t>skok</a:t>
            </a:r>
            <a:r>
              <a:rPr lang="en-US" sz="950" dirty="0">
                <a:solidFill>
                  <a:srgbClr val="F0F4F8"/>
                </a:solidFill>
              </a:rPr>
              <a:t> - arhitektura nije ključna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446520" y="4133088"/>
            <a:ext cx="54864" cy="384048"/>
          </a:xfrm>
          <a:prstGeom prst="rect">
            <a:avLst/>
          </a:prstGeom>
          <a:solidFill>
            <a:srgbClr val="1CB5E0"/>
          </a:solidFill>
          <a:ln w="12700">
            <a:solidFill>
              <a:srgbClr val="1CB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537960" y="41148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GRU: ~320s ukupno na GPU-u, 421K parametara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931A"/>
                </a:solidFill>
              </a:rPr>
              <a:t>04  Cenovna grana &amp; Fuzija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LSTM grana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78308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F793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931A"/>
                </a:solidFill>
              </a:rPr>
              <a:t>OHLCV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7931A"/>
                </a:solidFill>
              </a:rPr>
              <a:t>14 indikatora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75688" y="1691640"/>
            <a:ext cx="228600" cy="0"/>
          </a:xfrm>
          <a:prstGeom prst="line">
            <a:avLst/>
          </a:prstGeom>
          <a:noFill/>
          <a:ln w="1905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304288" y="1325880"/>
            <a:ext cx="178308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F793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04288" y="1325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931A"/>
                </a:solidFill>
              </a:rPr>
              <a:t>Stacked 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7931A"/>
                </a:solidFill>
              </a:rPr>
              <a:t>128→64→32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05656" y="1691640"/>
            <a:ext cx="228600" cy="0"/>
          </a:xfrm>
          <a:prstGeom prst="line">
            <a:avLst/>
          </a:prstGeom>
          <a:noFill/>
          <a:ln w="1905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34256" y="1325880"/>
            <a:ext cx="178308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F793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34256" y="1325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931A"/>
                </a:solidFill>
              </a:rPr>
              <a:t>Dropout 0.3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35624" y="1691640"/>
            <a:ext cx="228600" cy="0"/>
          </a:xfrm>
          <a:prstGeom prst="line">
            <a:avLst/>
          </a:prstGeom>
          <a:noFill/>
          <a:ln w="1905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64224" y="1325880"/>
            <a:ext cx="178308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F793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64224" y="1325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931A"/>
                </a:solidFill>
              </a:rPr>
              <a:t>64-dim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7931A"/>
                </a:solidFill>
              </a:rPr>
              <a:t>vector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64008" cy="65836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9768" y="2212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Selekcija karakteristika: forward + backward elimination.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Klasifikacija: prošireni </a:t>
            </a:r>
            <a:r>
              <a:rPr lang="en-US" sz="1000" dirty="0" err="1">
                <a:solidFill>
                  <a:srgbClr val="6B7A8D"/>
                </a:solidFill>
              </a:rPr>
              <a:t>skup</a:t>
            </a:r>
            <a:r>
              <a:rPr lang="en-US" sz="1000" dirty="0">
                <a:solidFill>
                  <a:srgbClr val="6B7A8D"/>
                </a:solidFill>
              </a:rPr>
              <a:t> 2017-2026, težine klasa za nebalans (STABLE 67.9% na test skupu).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971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1A2E"/>
                </a:solidFill>
              </a:rPr>
              <a:t>Fuzija</a:t>
            </a:r>
            <a:r>
              <a:rPr lang="en-US" sz="1300" b="1" dirty="0">
                <a:solidFill>
                  <a:srgbClr val="1A1A2E"/>
                </a:solidFill>
              </a:rPr>
              <a:t> - Multi-Head Attention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164592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1CB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4015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B5E0"/>
                </a:solidFill>
              </a:rPr>
              <a:t>Sentiment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B5E0"/>
                </a:solidFill>
              </a:rPr>
              <a:t>64-dim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03120" y="3401568"/>
            <a:ext cx="16459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03120" y="34015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931A"/>
                </a:solidFill>
              </a:rPr>
              <a:t>Cenovna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7931A"/>
                </a:solidFill>
              </a:rPr>
              <a:t>64-dim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38528" y="3657600"/>
            <a:ext cx="164592" cy="0"/>
          </a:xfrm>
          <a:prstGeom prst="line">
            <a:avLst/>
          </a:prstGeom>
          <a:noFill/>
          <a:ln w="1905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931920" y="3337560"/>
            <a:ext cx="19202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931920" y="3337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D4BF"/>
                </a:solidFill>
              </a:rPr>
              <a:t>Concat 128-dim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D4BF"/>
                </a:solidFill>
              </a:rPr>
              <a:t>→ MHA (4 glave)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3657600"/>
            <a:ext cx="182880" cy="0"/>
          </a:xfrm>
          <a:prstGeom prst="line">
            <a:avLst/>
          </a:prstGeom>
          <a:noFill/>
          <a:ln w="1905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35040" y="333756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35040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Dense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128→64→32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16368" y="3657600"/>
            <a:ext cx="182880" cy="0"/>
          </a:xfrm>
          <a:prstGeom prst="line">
            <a:avLst/>
          </a:prstGeom>
          <a:noFill/>
          <a:ln w="1905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699248" y="3191257"/>
            <a:ext cx="1170432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99248" y="318211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931A"/>
                </a:solidFill>
              </a:rPr>
              <a:t>Regresija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99248" y="3687646"/>
            <a:ext cx="1170432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08392" y="3664131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B5E0"/>
                </a:solidFill>
              </a:rPr>
              <a:t>Klasifikacija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</a:rPr>
              <a:t>05  Rezultati i evaluacija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Regresija cene (24h, validacioni skup)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20624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A"/>
                </a:solidFill>
              </a:rPr>
              <a:t>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71800" y="12984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A"/>
                </a:solidFill>
              </a:rPr>
              <a:t>MAE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99263" y="1303673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A"/>
                </a:solidFill>
              </a:rPr>
              <a:t>R²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6459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Baseline (naivni)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1645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</a:rPr>
              <a:t>1554$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16459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</a:rPr>
              <a:t>0.44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029968"/>
            <a:ext cx="42062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0299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LSTM 1-sloj (SGD)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20299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D4BF"/>
                </a:solidFill>
              </a:rPr>
              <a:t>1389$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20299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D4BF"/>
                </a:solidFill>
              </a:rPr>
              <a:t>0.583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414016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4140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LSTM 1-sloj (Adam)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24140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</a:rPr>
              <a:t>1627$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11880" y="24140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</a:rPr>
              <a:t>0.44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98064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279806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LSTM 3-sloj (SGD)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97480" y="27980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</a:rPr>
              <a:t>9781$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279806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</a:rPr>
              <a:t>−11.4 !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3192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Klasifikacija pravca (test skup)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703320"/>
            <a:ext cx="42062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70332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Dummy (most-freq.)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06040" y="3703320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</a:rPr>
              <a:t>67.9%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370332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</a:rPr>
              <a:t>uvek STABLE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032504"/>
            <a:ext cx="42062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03250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6040" y="40325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</a:rPr>
              <a:t>32.0%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83280" y="403250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</a:rPr>
              <a:t>&lt; dummy!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361688"/>
            <a:ext cx="42062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436168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LSTM (SGD)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06040" y="43616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</a:rPr>
              <a:t>63.2%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436168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</a:rPr>
              <a:t>&lt; dummy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690872"/>
            <a:ext cx="420624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0040" y="469087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GRU + Fuzija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606040" y="469087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D4BF"/>
                </a:solidFill>
              </a:rPr>
              <a:t>40%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83280" y="469087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</a:rPr>
              <a:t>target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BERT - per-class analiza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00600" y="1298448"/>
            <a:ext cx="411480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46320" y="12984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A"/>
                </a:solidFill>
              </a:rPr>
              <a:t>Klasa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23660" y="1303673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A"/>
                </a:solidFill>
              </a:rPr>
              <a:t>Prec.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292340" y="129844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A"/>
                </a:solidFill>
              </a:rPr>
              <a:t>Odziv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193677" y="1304979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A"/>
                </a:solidFill>
              </a:rPr>
              <a:t>F1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1645920"/>
            <a:ext cx="4114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46320" y="16459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positive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72200" y="16459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0.966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86600" y="16459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0.971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001000" y="16459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0.968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00600" y="2029968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46320" y="20299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neutral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72200" y="20299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0.993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086600" y="20299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0.983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001000" y="20299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0.988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00600" y="2414016"/>
            <a:ext cx="4114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46320" y="24140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negative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172200" y="24140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0.929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086600" y="24140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0.944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001000" y="24140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0.936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800600" y="2880360"/>
            <a:ext cx="4114800" cy="2057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89204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A"/>
                </a:solidFill>
              </a:rPr>
              <a:t>Ablaciona </a:t>
            </a:r>
            <a:r>
              <a:rPr lang="en-US" sz="1100" b="1" dirty="0" err="1">
                <a:solidFill>
                  <a:srgbClr val="F7931A"/>
                </a:solidFill>
              </a:rPr>
              <a:t>studija</a:t>
            </a:r>
            <a:r>
              <a:rPr lang="en-US" sz="1100" b="1" dirty="0">
                <a:solidFill>
                  <a:srgbClr val="F7931A"/>
                </a:solidFill>
              </a:rPr>
              <a:t> - sentiment grana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892040" y="32918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VADER Simple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589520" y="329184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</a:rPr>
              <a:t>41.8%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892040" y="362102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GRU (epoha 1)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589520" y="3621024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A8D"/>
                </a:solidFill>
              </a:rPr>
              <a:t>86.7%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892040" y="395020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GRU TF-IDF (pun)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589520" y="395020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97.9%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892040" y="427939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BERT zamrznut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589520" y="427939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931A"/>
                </a:solidFill>
              </a:rPr>
              <a:t>75.0%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892040" y="460857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BERT </a:t>
            </a:r>
            <a:r>
              <a:rPr lang="en-US" sz="1000" dirty="0" err="1">
                <a:solidFill>
                  <a:srgbClr val="F0F4F8"/>
                </a:solidFill>
              </a:rPr>
              <a:t>odmrznut</a:t>
            </a:r>
            <a:r>
              <a:rPr lang="en-US" sz="1000" dirty="0">
                <a:solidFill>
                  <a:srgbClr val="F0F4F8"/>
                </a:solidFill>
              </a:rPr>
              <a:t> 8-11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589520" y="4608576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97.2%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931A"/>
                </a:solidFill>
              </a:rPr>
              <a:t>06  Analiza grešaka &amp; Zaključak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Analiza </a:t>
            </a:r>
            <a:r>
              <a:rPr lang="en-US" sz="1200" b="1" dirty="0" err="1">
                <a:solidFill>
                  <a:srgbClr val="1A1A2E"/>
                </a:solidFill>
              </a:rPr>
              <a:t>grešaka</a:t>
            </a:r>
            <a:r>
              <a:rPr lang="en-US" sz="1200" b="1" dirty="0">
                <a:solidFill>
                  <a:srgbClr val="1A1A2E"/>
                </a:solidFill>
              </a:rPr>
              <a:t> - BERT sentiment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64008" cy="59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Sarkazam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"Oh great, another pump and dump, very bullish!" → klasifikovan kao pozitivan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56816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956816"/>
            <a:ext cx="64008" cy="59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97510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Negacija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18541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"Bitcoin is NOT going to crash" → zbunjuje model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615184"/>
            <a:ext cx="64008" cy="59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63347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Bullish terminologija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84378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Neutralni cenovni tvitovi dobijaju lažno pozitivnu oznaku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310128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310128"/>
            <a:ext cx="64008" cy="59436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32841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LSTM </a:t>
            </a:r>
            <a:r>
              <a:rPr lang="en-US" sz="1100" b="1" dirty="0" err="1">
                <a:solidFill>
                  <a:srgbClr val="1A1A2E"/>
                </a:solidFill>
              </a:rPr>
              <a:t>greška</a:t>
            </a:r>
            <a:r>
              <a:rPr lang="en-US" sz="1100" b="1" dirty="0">
                <a:solidFill>
                  <a:srgbClr val="1A1A2E"/>
                </a:solidFill>
              </a:rPr>
              <a:t> - volatilni periodi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5387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Kraj marta / početak aprila 2024 - iznenadne promene trenda nisu predvidive.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914400"/>
            <a:ext cx="4160520" cy="2057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960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931A"/>
                </a:solidFill>
              </a:rPr>
              <a:t>Ključni doprinosi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371600"/>
            <a:ext cx="54864" cy="310896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83480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GRU (97.9%) = BERT-u uz 68× manje parametara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755648"/>
            <a:ext cx="54864" cy="310896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1737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Odmrzavanje </a:t>
            </a:r>
            <a:r>
              <a:rPr lang="en-US" sz="1000" dirty="0" err="1">
                <a:solidFill>
                  <a:srgbClr val="F0F4F8"/>
                </a:solidFill>
              </a:rPr>
              <a:t>slojeva</a:t>
            </a:r>
            <a:r>
              <a:rPr lang="en-US" sz="1000" dirty="0">
                <a:solidFill>
                  <a:srgbClr val="F0F4F8"/>
                </a:solidFill>
              </a:rPr>
              <a:t> 8-11: recall neg. klase 70%→94.4%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139696"/>
            <a:ext cx="54864" cy="310896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Linearna </a:t>
            </a:r>
            <a:r>
              <a:rPr lang="en-US" sz="1000" dirty="0" err="1">
                <a:solidFill>
                  <a:srgbClr val="F0F4F8"/>
                </a:solidFill>
              </a:rPr>
              <a:t>korelacija</a:t>
            </a:r>
            <a:r>
              <a:rPr lang="en-US" sz="1000" dirty="0">
                <a:solidFill>
                  <a:srgbClr val="F0F4F8"/>
                </a:solidFill>
              </a:rPr>
              <a:t> sentiment-</a:t>
            </a:r>
            <a:r>
              <a:rPr lang="en-US" sz="1000" dirty="0" err="1">
                <a:solidFill>
                  <a:srgbClr val="F0F4F8"/>
                </a:solidFill>
              </a:rPr>
              <a:t>cena</a:t>
            </a:r>
            <a:r>
              <a:rPr lang="en-US" sz="1000" dirty="0">
                <a:solidFill>
                  <a:srgbClr val="F0F4F8"/>
                </a:solidFill>
              </a:rPr>
              <a:t> = 0 → motiviše nelinearne modele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523744"/>
            <a:ext cx="54864" cy="310896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83480" y="25054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SGD LSTM jedini nadmašuje baseline (R²=0.583 vs 0.44)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3108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Budući rad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4930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1.  Eksplicitno modelovanje lag-a sentiment-</a:t>
            </a:r>
            <a:r>
              <a:rPr lang="en-US" sz="1000" dirty="0" err="1">
                <a:solidFill>
                  <a:srgbClr val="1A1A2E"/>
                </a:solidFill>
              </a:rPr>
              <a:t>cena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8039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2.  Duži horizonti (30/90 dana) - jača korelacija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41148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3.  Reddit, Telegram, on-chain metrike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4256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4.  Grid/random search hiperparametara fuzije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 na pažnji!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22860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3017520"/>
            <a:ext cx="8503920" cy="2743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31546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</a:rPr>
              <a:t>Boris Letić  </a:t>
            </a:r>
            <a:r>
              <a:rPr lang="en-US" sz="1200" dirty="0">
                <a:solidFill>
                  <a:srgbClr val="6B7A8D"/>
                </a:solidFill>
              </a:rPr>
              <a:t>letic.e2126.2025@uns.ac.rs    |    </a:t>
            </a:r>
            <a:r>
              <a:rPr lang="en-US" sz="1300" b="1" dirty="0">
                <a:solidFill>
                  <a:srgbClr val="F0F4F8"/>
                </a:solidFill>
              </a:rPr>
              <a:t>Bogdan Čiplić  </a:t>
            </a:r>
            <a:r>
              <a:rPr lang="en-US" sz="1200" dirty="0">
                <a:solidFill>
                  <a:srgbClr val="6B7A8D"/>
                </a:solidFill>
              </a:rPr>
              <a:t>ciplic.r228.2025@uns.ac.rs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7033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</a:rPr>
              <a:t>FTN Novi Sad · </a:t>
            </a:r>
            <a:r>
              <a:rPr lang="en-US" sz="1200" dirty="0" err="1">
                <a:solidFill>
                  <a:srgbClr val="6B7A8D"/>
                </a:solidFill>
              </a:rPr>
              <a:t>Neuronske</a:t>
            </a:r>
            <a:r>
              <a:rPr lang="en-US" sz="1200" dirty="0">
                <a:solidFill>
                  <a:srgbClr val="6B7A8D"/>
                </a:solidFill>
              </a:rPr>
              <a:t> mreže ·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4251960"/>
            <a:ext cx="19659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7931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42519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931A"/>
                </a:solidFill>
              </a:rPr>
              <a:t>97.9%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46360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GRU tačnost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89020" y="4251960"/>
            <a:ext cx="19659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7931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89604" y="4237591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931A"/>
                </a:solidFill>
              </a:rPr>
              <a:t>68×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39312" y="4613801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manji od BERT-a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4251960"/>
            <a:ext cx="19659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7931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42519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931A"/>
                </a:solidFill>
              </a:rPr>
              <a:t>0.583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64531" y="4621639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R² LSTM (SGD)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829</Words>
  <Application>Microsoft Office PowerPoint</Application>
  <PresentationFormat>On-screen Show (16:9)</PresentationFormat>
  <Paragraphs>221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FTN 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Predikcija Bitcoin cene — Multimodalne duboke neuronske mreže</dc:title>
  <dc:subject>Predikcija Bitcoina</dc:subject>
  <dc:creator>RA 207/2021</dc:creator>
  <cp:lastModifiedBy>Boris Letic</cp:lastModifiedBy>
  <cp:revision>14</cp:revision>
  <dcterms:created xsi:type="dcterms:W3CDTF">2026-04-14T23:12:53Z</dcterms:created>
  <dcterms:modified xsi:type="dcterms:W3CDTF">2026-04-14T23:39:33Z</dcterms:modified>
</cp:coreProperties>
</file>