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30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304288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Boris Letić</a:t>
            </a:r>
            <a:r>
              <a:rPr lang="en-US" sz="1500" dirty="0">
                <a:solidFill>
                  <a:srgbClr val="6B7A8D"/>
                </a:solidFill>
              </a:rPr>
              <a:t>  (E2 126/2025)   ·   Sentiment </a:t>
            </a:r>
            <a:r>
              <a:rPr lang="en-US" sz="1500" dirty="0" err="1">
                <a:solidFill>
                  <a:srgbClr val="6B7A8D"/>
                </a:solidFill>
              </a:rPr>
              <a:t>analiza</a:t>
            </a:r>
            <a:r>
              <a:rPr lang="en-US" sz="1500" dirty="0">
                <a:solidFill>
                  <a:srgbClr val="6B7A8D"/>
                </a:solidFill>
              </a:rPr>
              <a:t> - BERT, GRU, BiLSTM</a:t>
            </a: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0F4F8"/>
                </a:solidFill>
              </a:rPr>
              <a:t>Bogdan Čiplić</a:t>
            </a:r>
            <a:r>
              <a:rPr lang="en-US" sz="1500" dirty="0">
                <a:solidFill>
                  <a:srgbClr val="6B7A8D"/>
                </a:solidFill>
              </a:rPr>
              <a:t>  (R2 28/2025)   ·   Cenovne </a:t>
            </a:r>
            <a:r>
              <a:rPr lang="en-US" sz="1500" dirty="0" err="1">
                <a:solidFill>
                  <a:srgbClr val="6B7A8D"/>
                </a:solidFill>
              </a:rPr>
              <a:t>serije</a:t>
            </a:r>
            <a:r>
              <a:rPr lang="en-US" sz="1500" dirty="0">
                <a:solidFill>
                  <a:srgbClr val="6B7A8D"/>
                </a:solidFill>
              </a:rPr>
              <a:t> - LSTM, Fuzija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BERT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GRU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347472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BiLSTM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LSTM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Multi-Head Attention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7931A">
                <a:alpha val="6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80760" y="3950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7931A"/>
                </a:solidFill>
              </a:rPr>
              <a:t>Novi Sad, 2026.</a:t>
            </a:r>
            <a:endParaRPr lang="en-US" sz="1100" dirty="0"/>
          </a:p>
        </p:txBody>
      </p:sp>
      <p:sp>
        <p:nvSpPr>
          <p:cNvPr id="21" name="Text 4"/>
          <p:cNvSpPr/>
          <p:nvPr/>
        </p:nvSpPr>
        <p:spPr>
          <a:xfrm>
            <a:off x="320040" y="914400"/>
            <a:ext cx="8131629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 err="1">
                <a:solidFill>
                  <a:schemeClr val="bg1"/>
                </a:solidFill>
              </a:rPr>
              <a:t>Predikcija</a:t>
            </a:r>
            <a:r>
              <a:rPr lang="en-US" sz="2000" dirty="0">
                <a:solidFill>
                  <a:schemeClr val="bg1"/>
                </a:solidFill>
              </a:rPr>
              <a:t> Bitcoin </a:t>
            </a:r>
            <a:r>
              <a:rPr lang="en-US" sz="2000" dirty="0" err="1">
                <a:solidFill>
                  <a:schemeClr val="bg1"/>
                </a:solidFill>
              </a:rPr>
              <a:t>cene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korišćenjem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multimodalnih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dubokih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neuronskih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mreža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8503920" cy="27432"/>
          </a:xfrm>
          <a:prstGeom prst="rect">
            <a:avLst/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Motivacija i definicija problema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49240" y="109728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Skup podataka i EDA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Sentiment grana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54880" y="22860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49240" y="22860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Arhitektura </a:t>
            </a:r>
            <a:r>
              <a:rPr lang="en-US" sz="1400" dirty="0" err="1">
                <a:solidFill>
                  <a:srgbClr val="F0F4F8"/>
                </a:solidFill>
              </a:rPr>
              <a:t>sistema</a:t>
            </a:r>
            <a:r>
              <a:rPr lang="en-US" sz="1400" dirty="0">
                <a:solidFill>
                  <a:srgbClr val="F0F4F8"/>
                </a:solidFill>
              </a:rPr>
              <a:t> - Cenovna grana i fuzija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Rezultati i evaluacija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3474720"/>
            <a:ext cx="4206240" cy="1005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solidFill>
            <a:srgbClr val="F7931A">
              <a:alpha val="80000"/>
            </a:srgbClr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54880" y="347472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49240" y="347472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F4F8"/>
                </a:solidFill>
              </a:rPr>
              <a:t>Analiza grešaka i zaključak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01  Motivacija i definicija problema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9768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Bitcoin tržište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9768" y="126187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Ekstremna volatilnost, bez fundamentalnih </a:t>
            </a:r>
            <a:r>
              <a:rPr lang="en-US" sz="1100" dirty="0" err="1">
                <a:solidFill>
                  <a:srgbClr val="6B7A8D"/>
                </a:solidFill>
              </a:rPr>
              <a:t>indikatora</a:t>
            </a:r>
            <a:r>
              <a:rPr lang="en-US" sz="1100" dirty="0">
                <a:solidFill>
                  <a:srgbClr val="6B7A8D"/>
                </a:solidFill>
              </a:rPr>
              <a:t> - sentiment je ključni signal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901952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29768" y="1901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Twitter lag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215798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Istraživanja </a:t>
            </a:r>
            <a:r>
              <a:rPr lang="en-US" sz="1100" dirty="0" err="1">
                <a:solidFill>
                  <a:srgbClr val="6B7A8D"/>
                </a:solidFill>
              </a:rPr>
              <a:t>pokazuju</a:t>
            </a:r>
            <a:r>
              <a:rPr lang="en-US" sz="1100" dirty="0">
                <a:solidFill>
                  <a:srgbClr val="6B7A8D"/>
                </a:solidFill>
              </a:rPr>
              <a:t> 6-12h pomak između Twitter sentimenta i cene [Karami, 2022]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798064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798064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29768" y="27980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Multimodalnost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" y="305409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Postojeći pristupi tretiraju sentiment i cenu </a:t>
            </a:r>
            <a:r>
              <a:rPr lang="en-US" sz="1100" dirty="0" err="1">
                <a:solidFill>
                  <a:srgbClr val="6B7A8D"/>
                </a:solidFill>
              </a:rPr>
              <a:t>odvojeno</a:t>
            </a:r>
            <a:r>
              <a:rPr lang="en-US" sz="1100" dirty="0">
                <a:solidFill>
                  <a:srgbClr val="6B7A8D"/>
                </a:solidFill>
              </a:rPr>
              <a:t> - mi ih spajamo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694176"/>
            <a:ext cx="5029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694176"/>
            <a:ext cx="64008" cy="80467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36941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Dva zadatka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" y="3950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Regresija: predikcija cene za 24h/48h/7d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A8D"/>
                </a:solidFill>
              </a:rPr>
              <a:t>Klasifikacija: pravac (RAST/PAD/STABILNO, ±2%)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0" y="100584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2E"/>
                </a:solidFill>
              </a:rPr>
              <a:t>Sistem u jednom pogledu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06440" y="14630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 Twitter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Tvitovi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15200" y="14630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 Binance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OHLCV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64808" y="1993392"/>
            <a:ext cx="0" cy="32004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19288" y="1993392"/>
            <a:ext cx="0" cy="32004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806440" y="2313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BERT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+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CB5E0"/>
                </a:solidFill>
              </a:rPr>
              <a:t>64-dim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15200" y="231343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Stacked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LSTM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7931A"/>
                </a:solidFill>
              </a:rPr>
              <a:t>64-dim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64808" y="2980944"/>
            <a:ext cx="0" cy="274320"/>
          </a:xfrm>
          <a:prstGeom prst="line">
            <a:avLst/>
          </a:prstGeom>
          <a:noFill/>
          <a:ln w="1905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19288" y="2980944"/>
            <a:ext cx="0" cy="274320"/>
          </a:xfrm>
          <a:prstGeom prst="line">
            <a:avLst/>
          </a:prstGeom>
          <a:noFill/>
          <a:ln w="1905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464808" y="3255264"/>
            <a:ext cx="15544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09360" y="325526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Multi-Head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2DD4BF"/>
                </a:solidFill>
              </a:rPr>
              <a:t>Attention Fuzija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104888" y="3785616"/>
            <a:ext cx="0" cy="274320"/>
          </a:xfrm>
          <a:prstGeom prst="line">
            <a:avLst/>
          </a:prstGeom>
          <a:noFill/>
          <a:ln w="190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309360" y="405993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7931A"/>
                </a:solidFill>
              </a:rPr>
              <a:t>Regresija / Klasifikacija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02  Skup podataka &amp; EDA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Twitter sentiment podaci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12.120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tvitova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47.2% / 35.1% / 17.7%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Neutral / Poz / Neg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4.406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jedinstvenih korisnika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12618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12618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B5E0"/>
                </a:solidFill>
              </a:rPr>
              <a:t>Jan-Maj 2024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720840" y="17373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period prikupljanja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Podaci o ceni Bitcoina (Binance)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3.625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7432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satnih OHLCV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2316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2316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$32.704-$56.336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raspon cene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1,404%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satna volatilnost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720840" y="2633472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720840" y="263347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14 indikatora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720840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RSI/MACD/BB/ATR…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657600"/>
            <a:ext cx="859536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74320" y="3657600"/>
            <a:ext cx="73152" cy="123444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36758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31A"/>
                </a:solidFill>
              </a:rPr>
              <a:t>Ključni EDA nalaz: nulta linearna </a:t>
            </a:r>
            <a:r>
              <a:rPr lang="en-US" sz="1300" b="1" dirty="0" err="1">
                <a:solidFill>
                  <a:srgbClr val="F7931A"/>
                </a:solidFill>
              </a:rPr>
              <a:t>korelacija</a:t>
            </a:r>
            <a:r>
              <a:rPr lang="en-US" sz="1300" b="1" dirty="0">
                <a:solidFill>
                  <a:srgbClr val="F7931A"/>
                </a:solidFill>
              </a:rPr>
              <a:t> sentiment-</a:t>
            </a:r>
            <a:r>
              <a:rPr lang="en-US" sz="1300" b="1" dirty="0" err="1">
                <a:solidFill>
                  <a:srgbClr val="F7931A"/>
                </a:solidFill>
              </a:rPr>
              <a:t>cena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4023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Pearsonov ρ ∈ [-0.009, -0.017] za sve lag vrednosti (0h-48h), p &gt; 0.3 - statistički beznačajno.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0F4F8"/>
                </a:solidFill>
              </a:rPr>
              <a:t>Ovo motiviše nelinearne duboke modele i objašnjava zašto izolovani LSTM ne nadmašuje naivni baseline.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B5E0"/>
                </a:solidFill>
              </a:rPr>
              <a:t>03  Sentiment grana - BERT + GRU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" y="914400"/>
            <a:ext cx="16002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6B7A8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8288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TF-IDF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3.000 termina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288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ulaz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0136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6596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bert-base-uncased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6596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110M param.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8444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49040" y="91440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4904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1CB5E0"/>
                </a:solidFill>
              </a:rPr>
              <a:t>Slojevi</a:t>
            </a:r>
            <a:r>
              <a:rPr lang="en-US" sz="1100" b="1" dirty="0">
                <a:solidFill>
                  <a:srgbClr val="1CB5E0"/>
                </a:solidFill>
              </a:rPr>
              <a:t> 8-11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B5E0"/>
                </a:solidFill>
              </a:rPr>
              <a:t>odmrznuti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4904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28.9M trenabilnih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6752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532120" y="914400"/>
            <a:ext cx="160020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3212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GRU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128→64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53212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421K param.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50608" y="1371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15200" y="914400"/>
            <a:ext cx="16002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0" y="91440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Embedding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0" y="15087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izlaz za fuziju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Rezultati klasifikatora sentimenta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24231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Simple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64208" y="2468880"/>
            <a:ext cx="192024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783080" y="242969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41.8%  (F1=0.419)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2843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VADER + LR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664208" y="2910078"/>
            <a:ext cx="2560320" cy="256032"/>
          </a:xfrm>
          <a:prstGeom prst="rect">
            <a:avLst/>
          </a:prstGeom>
          <a:solidFill>
            <a:srgbClr val="F87171">
              <a:alpha val="70000"/>
            </a:srgbClr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801368" y="286991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55.9%  (F1=0.550)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" y="32644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zamrznut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64208" y="3329722"/>
            <a:ext cx="3429000" cy="256032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783080" y="3277471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D1B2A"/>
                </a:solidFill>
              </a:rPr>
              <a:t>75%  (F1=0.75)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74320" y="368503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BERT odmrznut 8–11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664208" y="3740549"/>
            <a:ext cx="4443984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783080" y="3693523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97.2%  (F1=0.972)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105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BiLSTM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664208" y="4179461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798755" y="412459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4526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</a:rPr>
              <a:t>GRU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64208" y="4582450"/>
            <a:ext cx="4480560" cy="2560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801368" y="4536729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</a:rPr>
              <a:t>97.9%  (F1=0.980)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0" y="2011680"/>
            <a:ext cx="2514600" cy="2880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46520" y="2057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nalazi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446520" y="248716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537960" y="246888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 = BiLSTM = odmrznutom BERT-u (97.9%) uz 68× manje parametara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46520" y="303580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37960" y="30175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Odmrzavanje </a:t>
            </a:r>
            <a:r>
              <a:rPr lang="en-US" sz="950" dirty="0" err="1">
                <a:solidFill>
                  <a:srgbClr val="F0F4F8"/>
                </a:solidFill>
              </a:rPr>
              <a:t>slojeva</a:t>
            </a:r>
            <a:r>
              <a:rPr lang="en-US" sz="950" dirty="0">
                <a:solidFill>
                  <a:srgbClr val="F0F4F8"/>
                </a:solidFill>
              </a:rPr>
              <a:t> 8-11 uz discriminative lr podiglo recall negativne klase: 70% → 94.4%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446520" y="358444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53796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Samo domenski trening donosi </a:t>
            </a:r>
            <a:r>
              <a:rPr lang="en-US" sz="950" dirty="0" err="1">
                <a:solidFill>
                  <a:srgbClr val="F0F4F8"/>
                </a:solidFill>
              </a:rPr>
              <a:t>skok</a:t>
            </a:r>
            <a:r>
              <a:rPr lang="en-US" sz="950" dirty="0">
                <a:solidFill>
                  <a:srgbClr val="F0F4F8"/>
                </a:solidFill>
              </a:rPr>
              <a:t> - arhitektura nije ključna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446520" y="4133088"/>
            <a:ext cx="54864" cy="384048"/>
          </a:xfrm>
          <a:prstGeom prst="rect">
            <a:avLst/>
          </a:prstGeom>
          <a:solidFill>
            <a:srgbClr val="1CB5E0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537960" y="4114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4F8"/>
                </a:solidFill>
              </a:rPr>
              <a:t>GRU: ~320s ukupno na GPU-u, 421K parametara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04  Cenovna grana &amp; Fuzija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</a:rPr>
              <a:t>LSTM grana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OHLCV +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14 indikatora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75688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04288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Stacked LSTM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128→64→32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05656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334256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Dropout 0.3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1691640"/>
            <a:ext cx="22860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64224" y="13258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64-dim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vector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194560"/>
            <a:ext cx="64008" cy="658368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9768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Selekcija karakteristika: forward + backward elimination.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9768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Klasifikacija: prošireni </a:t>
            </a:r>
            <a:r>
              <a:rPr lang="en-US" sz="1000" dirty="0" err="1">
                <a:solidFill>
                  <a:srgbClr val="6B7A8D"/>
                </a:solidFill>
              </a:rPr>
              <a:t>skup</a:t>
            </a:r>
            <a:r>
              <a:rPr lang="en-US" sz="1000" dirty="0">
                <a:solidFill>
                  <a:srgbClr val="6B7A8D"/>
                </a:solidFill>
              </a:rPr>
              <a:t> 2017-2026, težine klasa za nebalans (STABLE 67.9% na test skupu).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9718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1A2E"/>
                </a:solidFill>
              </a:rPr>
              <a:t>Fuzija</a:t>
            </a:r>
            <a:r>
              <a:rPr lang="en-US" sz="1300" b="1" dirty="0">
                <a:solidFill>
                  <a:srgbClr val="1A1A2E"/>
                </a:solidFill>
              </a:rPr>
              <a:t> - Multi-Head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1CB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Sentiment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CB5E0"/>
                </a:solidFill>
              </a:rPr>
              <a:t>64-dim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03120" y="34015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Cenovna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7931A"/>
                </a:solidFill>
              </a:rPr>
              <a:t>64-dim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38528" y="3657600"/>
            <a:ext cx="164592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931920" y="33375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Concat 128-dim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→ MHA (4 glave)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035040" y="33375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Dense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A1A2E"/>
                </a:solidFill>
              </a:rPr>
              <a:t>128→64→32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16368" y="3657600"/>
            <a:ext cx="182880" cy="0"/>
          </a:xfrm>
          <a:prstGeom prst="line">
            <a:avLst/>
          </a:prstGeom>
          <a:noFill/>
          <a:ln w="19050">
            <a:solidFill>
              <a:srgbClr val="6B7A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699248" y="3191257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99248" y="3182112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931A"/>
                </a:solidFill>
              </a:rPr>
              <a:t>Regresija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699248" y="3687646"/>
            <a:ext cx="1170432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708392" y="3664131"/>
            <a:ext cx="1170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B5E0"/>
                </a:solidFill>
              </a:rPr>
              <a:t>Klasifikacija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</a:rPr>
              <a:t>05  Rezultati i evaluacija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Regresija cene (24h, validacioni skup)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984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Model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71800" y="1298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MAE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99263" y="1303673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R²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64592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Baseline (naivni)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7480" y="16459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1554$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4206240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0299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</a:rPr>
              <a:t>LSTM 1-sloj (SGD)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97480" y="20299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1389$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0.583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1-sloj (Adam)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97480" y="24140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1627$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1188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0.44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4206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2798064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3-sloj (SGD)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97480" y="27980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9781$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11880" y="27980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−11.4 !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33192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Klasifikacija pravca (test skup)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703320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370332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Dummy (most-freq.)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67.9%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370332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uvek STABLE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032504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20040" y="403250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Random Forest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06040" y="4032504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32.0%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383280" y="403250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61688"/>
            <a:ext cx="42062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20040" y="43616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LSTM (SGD)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06040" y="4361688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</a:rPr>
              <a:t>63.2%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436168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&lt; dummy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4690872"/>
            <a:ext cx="4206240" cy="301752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20040" y="469087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GRU + Fuzija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606040" y="4690872"/>
            <a:ext cx="7315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D4BF"/>
                </a:solidFill>
              </a:rPr>
              <a:t>40%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469087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8D"/>
                </a:solidFill>
              </a:rPr>
              <a:t>target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BERT - per-class analiza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1298448"/>
            <a:ext cx="4114800" cy="3291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46320" y="12984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Klasa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23660" y="1303673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Prec.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292340" y="129844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Odziv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193677" y="1304979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931A"/>
                </a:solidFill>
              </a:rPr>
              <a:t>F1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1645920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846320" y="164592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positive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722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866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0.971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00100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0.968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00600" y="2029968"/>
            <a:ext cx="41148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846320" y="20299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neutral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1722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0.993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0866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0.983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01000" y="2029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0.988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00600" y="2414016"/>
            <a:ext cx="4114800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846320" y="241401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negative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1722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0.929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70866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0.944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1000" y="24140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0.936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800600" y="2880360"/>
            <a:ext cx="411480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892040" y="2926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7931A"/>
                </a:solidFill>
              </a:rPr>
              <a:t>Ablaciona </a:t>
            </a:r>
            <a:r>
              <a:rPr lang="en-US" sz="1100" b="1" dirty="0" err="1">
                <a:solidFill>
                  <a:srgbClr val="F7931A"/>
                </a:solidFill>
              </a:rPr>
              <a:t>studija</a:t>
            </a:r>
            <a:r>
              <a:rPr lang="en-US" sz="1100" b="1" dirty="0">
                <a:solidFill>
                  <a:srgbClr val="F7931A"/>
                </a:solidFill>
              </a:rPr>
              <a:t> - sentiment grana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892040" y="3291840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VADER Simple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589520" y="3291840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</a:rPr>
              <a:t>41.8%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892040" y="362102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(epoha 1)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7589520" y="3621024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A8D"/>
                </a:solidFill>
              </a:rPr>
              <a:t>86.7%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892040" y="3950208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TF-IDF (pun)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589520" y="395020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97.9%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892040" y="4279392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zamrznut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589520" y="4279392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7931A"/>
                </a:solidFill>
              </a:rPr>
              <a:t>75.0%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892040" y="4608576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BERT </a:t>
            </a:r>
            <a:r>
              <a:rPr lang="en-US" sz="1000" dirty="0" err="1">
                <a:solidFill>
                  <a:srgbClr val="F0F4F8"/>
                </a:solidFill>
              </a:rPr>
              <a:t>odmrznut</a:t>
            </a:r>
            <a:r>
              <a:rPr lang="en-US" sz="1000" dirty="0">
                <a:solidFill>
                  <a:srgbClr val="F0F4F8"/>
                </a:solidFill>
              </a:rPr>
              <a:t> 8-11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589520" y="4608576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</a:rPr>
              <a:t>97.2%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931A"/>
                </a:solidFill>
              </a:rPr>
              <a:t>06  Analiza grešaka &amp; Zaključak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Analiza </a:t>
            </a:r>
            <a:r>
              <a:rPr lang="en-US" sz="1200" b="1" dirty="0" err="1">
                <a:solidFill>
                  <a:srgbClr val="1A1A2E"/>
                </a:solidFill>
              </a:rPr>
              <a:t>grešaka</a:t>
            </a:r>
            <a:r>
              <a:rPr lang="en-US" sz="1200" b="1" dirty="0">
                <a:solidFill>
                  <a:srgbClr val="1A1A2E"/>
                </a:solidFill>
              </a:rPr>
              <a:t> - BERT sentiment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9844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Sarkazam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2704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"Oh great, another pump and dump, very bullish!" → klasifikovan kao pozitivan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956816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956816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975104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Negacija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185416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"Bitcoin is NOT going to crash" → zbunjuje model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2615184"/>
            <a:ext cx="64008" cy="5943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263347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Bullish terminologija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843784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Neutralni cenovni tvitovi dobijaju lažno pozitivnu oznaku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310128"/>
            <a:ext cx="42062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310128"/>
            <a:ext cx="64008" cy="59436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3328416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</a:rPr>
              <a:t>LSTM </a:t>
            </a:r>
            <a:r>
              <a:rPr lang="en-US" sz="1100" b="1" dirty="0" err="1">
                <a:solidFill>
                  <a:srgbClr val="1A1A2E"/>
                </a:solidFill>
              </a:rPr>
              <a:t>greška</a:t>
            </a:r>
            <a:r>
              <a:rPr lang="en-US" sz="1100" b="1" dirty="0">
                <a:solidFill>
                  <a:srgbClr val="1A1A2E"/>
                </a:solidFill>
              </a:rPr>
              <a:t> - volatilni periodi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5387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</a:rPr>
              <a:t>Kraj marta / početak aprila 2024 - iznenadne promene trenda nisu predvidive.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160520" cy="2057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960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7931A"/>
                </a:solidFill>
              </a:rPr>
              <a:t>Ključni doprinosi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371600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353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GRU (97.9%) = BERT-u uz 68× manje parametara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1755648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83480" y="17373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Odmrzavanje </a:t>
            </a:r>
            <a:r>
              <a:rPr lang="en-US" sz="1000" dirty="0" err="1">
                <a:solidFill>
                  <a:srgbClr val="F0F4F8"/>
                </a:solidFill>
              </a:rPr>
              <a:t>slojeva</a:t>
            </a:r>
            <a:r>
              <a:rPr lang="en-US" sz="1000" dirty="0">
                <a:solidFill>
                  <a:srgbClr val="F0F4F8"/>
                </a:solidFill>
              </a:rPr>
              <a:t> 8-11: recall neg. klase 70%→94.4%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139696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2121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Linearna </a:t>
            </a:r>
            <a:r>
              <a:rPr lang="en-US" sz="1000" dirty="0" err="1">
                <a:solidFill>
                  <a:srgbClr val="F0F4F8"/>
                </a:solidFill>
              </a:rPr>
              <a:t>korelacija</a:t>
            </a:r>
            <a:r>
              <a:rPr lang="en-US" sz="1000" dirty="0">
                <a:solidFill>
                  <a:srgbClr val="F0F4F8"/>
                </a:solidFill>
              </a:rPr>
              <a:t> sentiment-</a:t>
            </a:r>
            <a:r>
              <a:rPr lang="en-US" sz="1000" dirty="0" err="1">
                <a:solidFill>
                  <a:srgbClr val="F0F4F8"/>
                </a:solidFill>
              </a:rPr>
              <a:t>cena</a:t>
            </a:r>
            <a:r>
              <a:rPr lang="en-US" sz="1000" dirty="0">
                <a:solidFill>
                  <a:srgbClr val="F0F4F8"/>
                </a:solidFill>
              </a:rPr>
              <a:t> = 0 → motiviše nelinearne modele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523744"/>
            <a:ext cx="54864" cy="310896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983480" y="250545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8"/>
                </a:solidFill>
              </a:rPr>
              <a:t>SGD LSTM jedini nadmašuje baseline (R²=0.583 vs 0.44)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0632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</a:rPr>
              <a:t>Budući rad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4930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1.  Eksplicitno modelovanje lag-a sentiment-</a:t>
            </a:r>
            <a:r>
              <a:rPr lang="en-US" sz="1000" dirty="0" err="1">
                <a:solidFill>
                  <a:srgbClr val="1A1A2E"/>
                </a:solidFill>
              </a:rPr>
              <a:t>cena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2.  Duži horizonti (30/90 dana) - jača korelacija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411480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3.  Reddit, Telegram, on-chain metrike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44256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</a:rPr>
              <a:t>4.  Grid/random search hiperparametara fuzije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7931A"/>
          </a:solidFill>
          <a:ln w="12700">
            <a:solidFill>
              <a:srgbClr val="F793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137160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na pažnji!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20040" y="22860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Pitanja?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3017520"/>
            <a:ext cx="8503920" cy="27432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315468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4F8"/>
                </a:solidFill>
              </a:rPr>
              <a:t>Boris Letić  </a:t>
            </a:r>
            <a:r>
              <a:rPr lang="en-US" sz="1200" dirty="0">
                <a:solidFill>
                  <a:srgbClr val="6B7A8D"/>
                </a:solidFill>
              </a:rPr>
              <a:t>letic.e2126.2025@uns.ac.rs    |    </a:t>
            </a:r>
            <a:r>
              <a:rPr lang="en-US" sz="1300" b="1" dirty="0">
                <a:solidFill>
                  <a:srgbClr val="F0F4F8"/>
                </a:solidFill>
              </a:rPr>
              <a:t>Bogdan Čiplić  </a:t>
            </a:r>
            <a:r>
              <a:rPr lang="en-US" sz="1200" dirty="0">
                <a:solidFill>
                  <a:srgbClr val="6B7A8D"/>
                </a:solidFill>
              </a:rPr>
              <a:t>ciplic.r228.2025@uns.ac.rs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7033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8D"/>
                </a:solidFill>
              </a:rPr>
              <a:t>FTN Novi Sad · </a:t>
            </a:r>
            <a:r>
              <a:rPr lang="en-US" sz="1200" dirty="0" err="1">
                <a:solidFill>
                  <a:srgbClr val="6B7A8D"/>
                </a:solidFill>
              </a:rPr>
              <a:t>Neuronske</a:t>
            </a:r>
            <a:r>
              <a:rPr lang="en-US" sz="1200" dirty="0">
                <a:solidFill>
                  <a:srgbClr val="6B7A8D"/>
                </a:solidFill>
              </a:rPr>
              <a:t> mreže · 2026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97.9%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" y="46360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GRU tačnost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58902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89604" y="4237591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68×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9312" y="4613801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manji od BERT-a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0" y="4251960"/>
            <a:ext cx="1965960" cy="65836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7931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42519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931A"/>
                </a:solidFill>
              </a:rPr>
              <a:t>0.583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864531" y="462163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A8D"/>
                </a:solidFill>
              </a:rPr>
              <a:t>R² LSTM (SGD)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826</Words>
  <Application>Microsoft Office PowerPoint</Application>
  <PresentationFormat>On-screen Show (16:9)</PresentationFormat>
  <Paragraphs>221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FTN 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Predikcija Bitcoin cene — Multimodalne duboke neuronske mreže</dc:title>
  <dc:subject>Predikcija Bitcoina</dc:subject>
  <dc:creator>RA 207/2021</dc:creator>
  <cp:lastModifiedBy>Boris Letic</cp:lastModifiedBy>
  <cp:revision>17</cp:revision>
  <dcterms:created xsi:type="dcterms:W3CDTF">2026-04-14T23:12:53Z</dcterms:created>
  <dcterms:modified xsi:type="dcterms:W3CDTF">2026-04-18T17:37:41Z</dcterms:modified>
</cp:coreProperties>
</file>