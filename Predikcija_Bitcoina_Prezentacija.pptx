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1302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20040" y="2304288"/>
            <a:ext cx="8503920" cy="27432"/>
          </a:xfrm>
          <a:prstGeom prst="rect">
            <a:avLst/>
          </a:prstGeom>
          <a:solidFill>
            <a:srgbClr val="FFFFFF">
              <a:alpha val="2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" y="24688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0F4F8"/>
                </a:solidFill>
              </a:rPr>
              <a:t>Boris Letić</a:t>
            </a:r>
            <a:r>
              <a:rPr lang="en-US" sz="1500" dirty="0">
                <a:solidFill>
                  <a:srgbClr val="6B7A8D"/>
                </a:solidFill>
              </a:rPr>
              <a:t>  (E2 126/2025)   ·   Sentiment </a:t>
            </a:r>
            <a:r>
              <a:rPr lang="en-US" sz="1500" dirty="0" err="1">
                <a:solidFill>
                  <a:srgbClr val="6B7A8D"/>
                </a:solidFill>
              </a:rPr>
              <a:t>analiza</a:t>
            </a:r>
            <a:r>
              <a:rPr lang="en-US" sz="1500" dirty="0">
                <a:solidFill>
                  <a:srgbClr val="6B7A8D"/>
                </a:solidFill>
              </a:rPr>
              <a:t> - BERT, GRU, BiLSTM</a:t>
            </a:r>
            <a:r>
              <a:rPr lang="en-US" sz="1600" dirty="0">
                <a:solidFill>
                  <a:srgbClr val="000000"/>
                </a:solidFill>
              </a:rPr>
              <a:t>
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0F4F8"/>
                </a:solidFill>
              </a:rPr>
              <a:t>Bogdan Čiplić</a:t>
            </a:r>
            <a:r>
              <a:rPr lang="en-US" sz="1500" dirty="0">
                <a:solidFill>
                  <a:srgbClr val="6B7A8D"/>
                </a:solidFill>
              </a:rPr>
              <a:t>  (R2 28/2025)   ·   Cenovne </a:t>
            </a:r>
            <a:r>
              <a:rPr lang="en-US" sz="1500" dirty="0" err="1">
                <a:solidFill>
                  <a:srgbClr val="6B7A8D"/>
                </a:solidFill>
              </a:rPr>
              <a:t>serije</a:t>
            </a:r>
            <a:r>
              <a:rPr lang="en-US" sz="1500" dirty="0">
                <a:solidFill>
                  <a:srgbClr val="6B7A8D"/>
                </a:solidFill>
              </a:rPr>
              <a:t> - LSTM, Fuzija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20040" y="3474720"/>
            <a:ext cx="2606040" cy="347472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7931A">
                <a:alpha val="6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0040" y="347472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7931A"/>
                </a:solidFill>
              </a:rPr>
              <a:t>BERT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3474720"/>
            <a:ext cx="2606040" cy="347472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7931A">
                <a:alpha val="6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00400" y="347472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7931A"/>
                </a:solidFill>
              </a:rPr>
              <a:t>GRU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80760" y="3474720"/>
            <a:ext cx="2606040" cy="347472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7931A">
                <a:alpha val="6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80760" y="347472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7931A"/>
                </a:solidFill>
              </a:rPr>
              <a:t>BiLSTM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" y="3950208"/>
            <a:ext cx="2606040" cy="347472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7931A">
                <a:alpha val="6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0040" y="395020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7931A"/>
                </a:solidFill>
              </a:rPr>
              <a:t>LSTM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0" y="3950208"/>
            <a:ext cx="2606040" cy="347472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7931A">
                <a:alpha val="6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200400" y="395020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7931A"/>
                </a:solidFill>
              </a:rPr>
              <a:t>Multi-Head Attention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80760" y="3950208"/>
            <a:ext cx="2606040" cy="347472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7931A">
                <a:alpha val="6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080760" y="395020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7931A"/>
                </a:solidFill>
              </a:rPr>
              <a:t>Novi Sad, 2026.</a:t>
            </a:r>
            <a:endParaRPr lang="en-US" sz="1100" dirty="0"/>
          </a:p>
        </p:txBody>
      </p:sp>
      <p:sp>
        <p:nvSpPr>
          <p:cNvPr id="21" name="Text 4"/>
          <p:cNvSpPr/>
          <p:nvPr/>
        </p:nvSpPr>
        <p:spPr>
          <a:xfrm>
            <a:off x="320040" y="914400"/>
            <a:ext cx="8131629" cy="1321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 err="1">
                <a:solidFill>
                  <a:schemeClr val="bg1"/>
                </a:solidFill>
              </a:rPr>
              <a:t>Predikcija</a:t>
            </a:r>
            <a:r>
              <a:rPr lang="en-US" sz="2000" dirty="0">
                <a:solidFill>
                  <a:schemeClr val="bg1"/>
                </a:solidFill>
              </a:rPr>
              <a:t> Bitcoin </a:t>
            </a:r>
            <a:r>
              <a:rPr lang="en-US" sz="2000" dirty="0" err="1">
                <a:solidFill>
                  <a:schemeClr val="bg1"/>
                </a:solidFill>
              </a:rPr>
              <a:t>cene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korišćenjem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multimodalnih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dubokih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neuronskih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mreža</a:t>
            </a:r>
            <a:endParaRPr lang="en-US"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8503920" cy="27432"/>
          </a:xfrm>
          <a:prstGeom prst="rect">
            <a:avLst/>
          </a:prstGeom>
          <a:solidFill>
            <a:srgbClr val="FFFFFF">
              <a:alpha val="2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097280"/>
            <a:ext cx="4206240" cy="10058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7931A">
                <a:alpha val="5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502920" cy="1005840"/>
          </a:xfrm>
          <a:prstGeom prst="rect">
            <a:avLst/>
          </a:prstGeom>
          <a:solidFill>
            <a:srgbClr val="F7931A">
              <a:alpha val="80000"/>
            </a:srgbClr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109728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0F4F8"/>
                </a:solidFill>
              </a:rPr>
              <a:t>Motivacija i definicija problema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1097280"/>
            <a:ext cx="4206240" cy="10058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7931A">
                <a:alpha val="5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54880" y="1097280"/>
            <a:ext cx="502920" cy="1005840"/>
          </a:xfrm>
          <a:prstGeom prst="rect">
            <a:avLst/>
          </a:prstGeom>
          <a:solidFill>
            <a:srgbClr val="F7931A">
              <a:alpha val="80000"/>
            </a:srgbClr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54880" y="10972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349240" y="109728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0F4F8"/>
                </a:solidFill>
              </a:rPr>
              <a:t>Skup podataka i EDA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0040" y="2286000"/>
            <a:ext cx="4206240" cy="10058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7931A">
                <a:alpha val="5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20040" y="2286000"/>
            <a:ext cx="502920" cy="1005840"/>
          </a:xfrm>
          <a:prstGeom prst="rect">
            <a:avLst/>
          </a:prstGeom>
          <a:solidFill>
            <a:srgbClr val="F7931A">
              <a:alpha val="80000"/>
            </a:srgbClr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0040" y="228600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4400" y="228600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0F4F8"/>
                </a:solidFill>
              </a:rPr>
              <a:t>Arhitektura </a:t>
            </a:r>
            <a:r>
              <a:rPr lang="en-US" sz="1400" dirty="0" err="1">
                <a:solidFill>
                  <a:srgbClr val="F0F4F8"/>
                </a:solidFill>
              </a:rPr>
              <a:t>sistema</a:t>
            </a:r>
            <a:r>
              <a:rPr lang="en-US" sz="1400" dirty="0">
                <a:solidFill>
                  <a:srgbClr val="F0F4F8"/>
                </a:solidFill>
              </a:rPr>
              <a:t> - Sentiment grana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754880" y="2286000"/>
            <a:ext cx="4206240" cy="10058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7931A">
                <a:alpha val="5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754880" y="2286000"/>
            <a:ext cx="502920" cy="1005840"/>
          </a:xfrm>
          <a:prstGeom prst="rect">
            <a:avLst/>
          </a:prstGeom>
          <a:solidFill>
            <a:srgbClr val="F7931A">
              <a:alpha val="80000"/>
            </a:srgbClr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754880" y="228600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04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349240" y="228600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0F4F8"/>
                </a:solidFill>
              </a:rPr>
              <a:t>Arhitektura </a:t>
            </a:r>
            <a:r>
              <a:rPr lang="en-US" sz="1400" dirty="0" err="1">
                <a:solidFill>
                  <a:srgbClr val="F0F4F8"/>
                </a:solidFill>
              </a:rPr>
              <a:t>sistema</a:t>
            </a:r>
            <a:r>
              <a:rPr lang="en-US" sz="1400" dirty="0">
                <a:solidFill>
                  <a:srgbClr val="F0F4F8"/>
                </a:solidFill>
              </a:rPr>
              <a:t> - Cenovna grana i fuzija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20040" y="3474720"/>
            <a:ext cx="4206240" cy="10058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7931A">
                <a:alpha val="5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20040" y="3474720"/>
            <a:ext cx="502920" cy="1005840"/>
          </a:xfrm>
          <a:prstGeom prst="rect">
            <a:avLst/>
          </a:prstGeom>
          <a:solidFill>
            <a:srgbClr val="F7931A">
              <a:alpha val="80000"/>
            </a:srgbClr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20040" y="347472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05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14400" y="347472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0F4F8"/>
                </a:solidFill>
              </a:rPr>
              <a:t>Rezultati i evaluacija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754880" y="3474720"/>
            <a:ext cx="4206240" cy="10058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7931A">
                <a:alpha val="5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754880" y="3474720"/>
            <a:ext cx="502920" cy="1005840"/>
          </a:xfrm>
          <a:prstGeom prst="rect">
            <a:avLst/>
          </a:prstGeom>
          <a:solidFill>
            <a:srgbClr val="F7931A">
              <a:alpha val="80000"/>
            </a:srgbClr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754880" y="347472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06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349240" y="347472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0F4F8"/>
                </a:solidFill>
              </a:rPr>
              <a:t>Analiza grešaka i zaključak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7931A"/>
                </a:solidFill>
              </a:rPr>
              <a:t>01  Motivacija i definicija problema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5029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64008" cy="80467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29768" y="10058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Bitcoin tržište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29768" y="126187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A8D"/>
                </a:solidFill>
              </a:rPr>
              <a:t>Ekstremna volatilnost, bez fundamentalnih </a:t>
            </a:r>
            <a:r>
              <a:rPr lang="en-US" sz="1100" dirty="0" err="1">
                <a:solidFill>
                  <a:srgbClr val="6B7A8D"/>
                </a:solidFill>
              </a:rPr>
              <a:t>indikatora</a:t>
            </a:r>
            <a:r>
              <a:rPr lang="en-US" sz="1100" dirty="0">
                <a:solidFill>
                  <a:srgbClr val="6B7A8D"/>
                </a:solidFill>
              </a:rPr>
              <a:t> - sentiment je ključni signal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1901952"/>
            <a:ext cx="5029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74320" y="1901952"/>
            <a:ext cx="64008" cy="80467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29768" y="190195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Twitter lag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" y="215798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A8D"/>
                </a:solidFill>
              </a:rPr>
              <a:t>Istraživanja pokazuju 6–12h pomak između Twitter sentimenta i cene [Karami, 2022]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2798064"/>
            <a:ext cx="5029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74320" y="2798064"/>
            <a:ext cx="64008" cy="80467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29768" y="279806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Multimodalnost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29768" y="305409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A8D"/>
                </a:solidFill>
              </a:rPr>
              <a:t>Postojeći pristupi tretiraju sentiment i cenu </a:t>
            </a:r>
            <a:r>
              <a:rPr lang="en-US" sz="1100" dirty="0" err="1">
                <a:solidFill>
                  <a:srgbClr val="6B7A8D"/>
                </a:solidFill>
              </a:rPr>
              <a:t>odvojeno</a:t>
            </a:r>
            <a:r>
              <a:rPr lang="en-US" sz="1100" dirty="0">
                <a:solidFill>
                  <a:srgbClr val="6B7A8D"/>
                </a:solidFill>
              </a:rPr>
              <a:t> - mi ih spajamo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3694176"/>
            <a:ext cx="5029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74320" y="3694176"/>
            <a:ext cx="64008" cy="80467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29768" y="369417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Dva zadatka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29768" y="395020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A8D"/>
                </a:solidFill>
              </a:rPr>
              <a:t>Regresija: predikcija cene za 24h/48h/7d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B7A8D"/>
                </a:solidFill>
              </a:rPr>
              <a:t>Klasifikacija: pravac (RAST/PAD/STABILNO, ±2%)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0" y="1005840"/>
            <a:ext cx="32004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669280" y="1005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</a:rPr>
              <a:t>Sistem u jednom pogledu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806440" y="1463040"/>
            <a:ext cx="132588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1CB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806440" y="146304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B5E0"/>
                </a:solidFill>
              </a:rPr>
              <a:t> Twitter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CB5E0"/>
                </a:solidFill>
              </a:rPr>
              <a:t>Tvitovi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15200" y="1463040"/>
            <a:ext cx="1417320" cy="502920"/>
          </a:xfrm>
          <a:prstGeom prst="rect">
            <a:avLst/>
          </a:prstGeom>
          <a:solidFill>
            <a:srgbClr val="FFF7ED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315200" y="14630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7931A"/>
                </a:solidFill>
              </a:rPr>
              <a:t> Binance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7931A"/>
                </a:solidFill>
              </a:rPr>
              <a:t>OHLCV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464808" y="1993392"/>
            <a:ext cx="0" cy="320040"/>
          </a:xfrm>
          <a:prstGeom prst="line">
            <a:avLst/>
          </a:prstGeom>
          <a:noFill/>
          <a:ln w="19050">
            <a:solidFill>
              <a:srgbClr val="1CB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019288" y="1993392"/>
            <a:ext cx="0" cy="320040"/>
          </a:xfrm>
          <a:prstGeom prst="line">
            <a:avLst/>
          </a:prstGeom>
          <a:noFill/>
          <a:ln w="1905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806440" y="2313432"/>
            <a:ext cx="1325880" cy="640080"/>
          </a:xfrm>
          <a:prstGeom prst="rect">
            <a:avLst/>
          </a:prstGeom>
          <a:solidFill>
            <a:srgbClr val="EFF6FF"/>
          </a:solidFill>
          <a:ln w="12700">
            <a:solidFill>
              <a:srgbClr val="1CB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806440" y="2313432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CB5E0"/>
                </a:solidFill>
              </a:rPr>
              <a:t>BERT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CB5E0"/>
                </a:solidFill>
              </a:rPr>
              <a:t>+ GRU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CB5E0"/>
                </a:solidFill>
              </a:rPr>
              <a:t>64-dim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315200" y="2313432"/>
            <a:ext cx="1417320" cy="640080"/>
          </a:xfrm>
          <a:prstGeom prst="rect">
            <a:avLst/>
          </a:prstGeom>
          <a:solidFill>
            <a:srgbClr val="FFF7ED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315200" y="2313432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7931A"/>
                </a:solidFill>
              </a:rPr>
              <a:t>Stacked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7931A"/>
                </a:solidFill>
              </a:rPr>
              <a:t>LSTM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7931A"/>
                </a:solidFill>
              </a:rPr>
              <a:t>64-dim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464808" y="2980944"/>
            <a:ext cx="0" cy="274320"/>
          </a:xfrm>
          <a:prstGeom prst="line">
            <a:avLst/>
          </a:prstGeom>
          <a:noFill/>
          <a:ln w="19050">
            <a:solidFill>
              <a:srgbClr val="1CB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8019288" y="2980944"/>
            <a:ext cx="0" cy="274320"/>
          </a:xfrm>
          <a:prstGeom prst="line">
            <a:avLst/>
          </a:prstGeom>
          <a:noFill/>
          <a:ln w="1905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464808" y="3255264"/>
            <a:ext cx="1554480" cy="0"/>
          </a:xfrm>
          <a:prstGeom prst="line">
            <a:avLst/>
          </a:prstGeom>
          <a:noFill/>
          <a:ln w="19050">
            <a:solidFill>
              <a:srgbClr val="6B7A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6309360" y="3255264"/>
            <a:ext cx="1600200" cy="502920"/>
          </a:xfrm>
          <a:prstGeom prst="rect">
            <a:avLst/>
          </a:prstGeom>
          <a:solidFill>
            <a:srgbClr val="F0FDF4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309360" y="325526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DD4BF"/>
                </a:solidFill>
              </a:rPr>
              <a:t>Multi-Head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2DD4BF"/>
                </a:solidFill>
              </a:rPr>
              <a:t>Attention Fuzija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7104888" y="3785616"/>
            <a:ext cx="0" cy="274320"/>
          </a:xfrm>
          <a:prstGeom prst="line">
            <a:avLst/>
          </a:prstGeom>
          <a:noFill/>
          <a:ln w="1905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6309360" y="4059936"/>
            <a:ext cx="1600200" cy="4114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309360" y="4059936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7931A"/>
                </a:solidFill>
              </a:rPr>
              <a:t>Regresija / Klasifikacija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7931A"/>
                </a:solidFill>
              </a:rPr>
              <a:t>02  Skup podataka &amp; EDA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74320" y="9144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</a:rPr>
              <a:t>Twitter sentiment podaci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261872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126187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B5E0"/>
                </a:solidFill>
              </a:rPr>
              <a:t>12.120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74320" y="17373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tvitova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423160" y="1261872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423160" y="126187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B5E0"/>
                </a:solidFill>
              </a:rPr>
              <a:t>47.2% / 35.1% / 17.7%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423160" y="17373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Neutral / Poz / Neg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61872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0" y="126187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B5E0"/>
                </a:solidFill>
              </a:rPr>
              <a:t>4.406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jedinstvenih korisnika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720840" y="1261872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720840" y="126187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B5E0"/>
                </a:solidFill>
              </a:rPr>
              <a:t>Jan-Maj 2024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720840" y="17373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period prikupljanja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74320" y="22860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</a:rPr>
              <a:t>Podaci o ceni Bitcoina (Binance)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74320" y="2633472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74320" y="263347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7931A"/>
                </a:solidFill>
              </a:rPr>
              <a:t>3.625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274320" y="31089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satnih OHLCV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423160" y="2633472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423160" y="263347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7931A"/>
                </a:solidFill>
              </a:rPr>
              <a:t>$32.704-$56.336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423160" y="31089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raspon cene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0" y="2633472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72000" y="263347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7931A"/>
                </a:solidFill>
              </a:rPr>
              <a:t>1,404%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572000" y="31089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satna volatilnost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720840" y="2633472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720840" y="263347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7931A"/>
                </a:solidFill>
              </a:rPr>
              <a:t>14 indikatora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720840" y="31089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RSI/MACD/BB/ATR…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4320" y="3657600"/>
            <a:ext cx="8595360" cy="12344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274320" y="3657600"/>
            <a:ext cx="73152" cy="1234440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57200" y="3675888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7931A"/>
                </a:solidFill>
              </a:rPr>
              <a:t>Ključni EDA nalaz: nulta linearna </a:t>
            </a:r>
            <a:r>
              <a:rPr lang="en-US" sz="1300" b="1" dirty="0" err="1">
                <a:solidFill>
                  <a:srgbClr val="F7931A"/>
                </a:solidFill>
              </a:rPr>
              <a:t>korelacija</a:t>
            </a:r>
            <a:r>
              <a:rPr lang="en-US" sz="1300" b="1" dirty="0">
                <a:solidFill>
                  <a:srgbClr val="F7931A"/>
                </a:solidFill>
              </a:rPr>
              <a:t> sentiment-</a:t>
            </a:r>
            <a:r>
              <a:rPr lang="en-US" sz="1300" b="1" dirty="0" err="1">
                <a:solidFill>
                  <a:srgbClr val="F7931A"/>
                </a:solidFill>
              </a:rPr>
              <a:t>cena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57200" y="402336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4F8"/>
                </a:solidFill>
              </a:rPr>
              <a:t>Pearsonov ρ ∈ [-0.009, -0.017] za sve lag vrednosti (0h–48h), p &gt; 0.3 - statistički beznačajno.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0F4F8"/>
                </a:solidFill>
              </a:rPr>
              <a:t>Ovo motiviše nelinearne duboke modele i objašnjava zašto izolovani LSTM ne nadmašuje naivni baseline.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CB5E0"/>
                </a:solidFill>
              </a:rPr>
              <a:t>03  Sentiment grana - BERT + GRU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" y="914400"/>
            <a:ext cx="160020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6B7A8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82880" y="91440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7A8D"/>
                </a:solidFill>
              </a:rPr>
              <a:t>TF-IDF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6B7A8D"/>
                </a:solidFill>
              </a:rPr>
              <a:t>3.000 termina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82880" y="15087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GRU ulaz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801368" y="1371600"/>
            <a:ext cx="164592" cy="0"/>
          </a:xfrm>
          <a:prstGeom prst="line">
            <a:avLst/>
          </a:prstGeom>
          <a:noFill/>
          <a:ln w="19050">
            <a:solidFill>
              <a:srgbClr val="6B7A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965960" y="914400"/>
            <a:ext cx="1600200" cy="914400"/>
          </a:xfrm>
          <a:prstGeom prst="rect">
            <a:avLst/>
          </a:prstGeom>
          <a:solidFill>
            <a:srgbClr val="EFF6FF"/>
          </a:solidFill>
          <a:ln w="12700">
            <a:solidFill>
              <a:srgbClr val="1CB5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965960" y="91440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B5E0"/>
                </a:solidFill>
              </a:rPr>
              <a:t>BERT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CB5E0"/>
                </a:solidFill>
              </a:rPr>
              <a:t>bert-base-uncased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965960" y="15087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110M param.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584448" y="1371600"/>
            <a:ext cx="164592" cy="0"/>
          </a:xfrm>
          <a:prstGeom prst="line">
            <a:avLst/>
          </a:prstGeom>
          <a:noFill/>
          <a:ln w="19050">
            <a:solidFill>
              <a:srgbClr val="6B7A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749040" y="914400"/>
            <a:ext cx="1600200" cy="914400"/>
          </a:xfrm>
          <a:prstGeom prst="rect">
            <a:avLst/>
          </a:prstGeom>
          <a:solidFill>
            <a:srgbClr val="EFF6FF"/>
          </a:solidFill>
          <a:ln w="12700">
            <a:solidFill>
              <a:srgbClr val="1CB5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749040" y="91440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 err="1">
                <a:solidFill>
                  <a:srgbClr val="1CB5E0"/>
                </a:solidFill>
              </a:rPr>
              <a:t>Slojevi</a:t>
            </a:r>
            <a:r>
              <a:rPr lang="en-US" sz="1100" b="1" dirty="0">
                <a:solidFill>
                  <a:srgbClr val="1CB5E0"/>
                </a:solidFill>
              </a:rPr>
              <a:t> 8-11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CB5E0"/>
                </a:solidFill>
              </a:rPr>
              <a:t>odmrznuti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749040" y="15087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28.9M trenabilnih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67528" y="1371600"/>
            <a:ext cx="164592" cy="0"/>
          </a:xfrm>
          <a:prstGeom prst="line">
            <a:avLst/>
          </a:prstGeom>
          <a:noFill/>
          <a:ln w="19050">
            <a:solidFill>
              <a:srgbClr val="6B7A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532120" y="914400"/>
            <a:ext cx="1600200" cy="914400"/>
          </a:xfrm>
          <a:prstGeom prst="rect">
            <a:avLst/>
          </a:prstGeom>
          <a:solidFill>
            <a:srgbClr val="F0FDF4"/>
          </a:solidFill>
          <a:ln w="12700">
            <a:solidFill>
              <a:srgbClr val="2DD4B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532120" y="91440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GRU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128→64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532120" y="15087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421K param.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150608" y="1371600"/>
            <a:ext cx="164592" cy="0"/>
          </a:xfrm>
          <a:prstGeom prst="line">
            <a:avLst/>
          </a:prstGeom>
          <a:noFill/>
          <a:ln w="19050">
            <a:solidFill>
              <a:srgbClr val="6B7A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315200" y="914400"/>
            <a:ext cx="1600200" cy="914400"/>
          </a:xfrm>
          <a:prstGeom prst="rect">
            <a:avLst/>
          </a:prstGeom>
          <a:solidFill>
            <a:srgbClr val="FFF7ED"/>
          </a:solidFill>
          <a:ln w="12700">
            <a:solidFill>
              <a:srgbClr val="F7931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315200" y="91440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7931A"/>
                </a:solidFill>
              </a:rPr>
              <a:t>64-dim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7931A"/>
                </a:solidFill>
              </a:rPr>
              <a:t>Embedding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0" y="15087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izlaz za fuziju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74320" y="2011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</a:rPr>
              <a:t>Rezultati klasifikatora sentimenta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74320" y="24231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VADER Simple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664208" y="2468880"/>
            <a:ext cx="1920240" cy="256032"/>
          </a:xfrm>
          <a:prstGeom prst="rect">
            <a:avLst/>
          </a:prstGeom>
          <a:solidFill>
            <a:srgbClr val="F87171">
              <a:alpha val="70000"/>
            </a:srgbClr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783080" y="2429692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</a:rPr>
              <a:t>41.8%  (F1=0.419)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74320" y="2843784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VADER + LR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664208" y="2910078"/>
            <a:ext cx="2560320" cy="256032"/>
          </a:xfrm>
          <a:prstGeom prst="rect">
            <a:avLst/>
          </a:prstGeom>
          <a:solidFill>
            <a:srgbClr val="F87171">
              <a:alpha val="70000"/>
            </a:srgbClr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1801368" y="286991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</a:rPr>
              <a:t>55.9%  (F1=0.550)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74320" y="326440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BERT zamrznut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664208" y="3329722"/>
            <a:ext cx="3429000" cy="25603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1783080" y="3277471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</a:rPr>
              <a:t>75%  (F1=0.75)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74320" y="368503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BERT odmrznut 8–11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664208" y="3740549"/>
            <a:ext cx="4443984" cy="256032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1783080" y="3693523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2A"/>
                </a:solidFill>
              </a:rPr>
              <a:t>97.2%  (F1=0.972)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74320" y="4105656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BiLSTM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664208" y="4179461"/>
            <a:ext cx="4480560" cy="256032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1798755" y="4124596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2A"/>
                </a:solidFill>
              </a:rPr>
              <a:t>97.9%  (F1=0.980)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74320" y="452628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GRU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1664208" y="4582450"/>
            <a:ext cx="4480560" cy="256032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1801368" y="4536729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2A"/>
                </a:solidFill>
              </a:rPr>
              <a:t>97.9%  (F1=0.980)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400800" y="2011680"/>
            <a:ext cx="2514600" cy="28803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446520" y="20574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7931A"/>
                </a:solidFill>
              </a:rPr>
              <a:t>Ključni nalazi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446520" y="2487168"/>
            <a:ext cx="54864" cy="384048"/>
          </a:xfrm>
          <a:prstGeom prst="rect">
            <a:avLst/>
          </a:prstGeom>
          <a:solidFill>
            <a:srgbClr val="1CB5E0"/>
          </a:solidFill>
          <a:ln w="12700">
            <a:solidFill>
              <a:srgbClr val="1CB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6537960" y="246888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0F4F8"/>
                </a:solidFill>
              </a:rPr>
              <a:t>GRU = BiLSTM = odmrznutom BERT-u (97.9%) uz 68× manje parametara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6446520" y="3035808"/>
            <a:ext cx="54864" cy="384048"/>
          </a:xfrm>
          <a:prstGeom prst="rect">
            <a:avLst/>
          </a:prstGeom>
          <a:solidFill>
            <a:srgbClr val="1CB5E0"/>
          </a:solidFill>
          <a:ln w="12700">
            <a:solidFill>
              <a:srgbClr val="1CB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537960" y="301752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0F4F8"/>
                </a:solidFill>
              </a:rPr>
              <a:t>Odmrzavanje </a:t>
            </a:r>
            <a:r>
              <a:rPr lang="en-US" sz="950" dirty="0" err="1">
                <a:solidFill>
                  <a:srgbClr val="F0F4F8"/>
                </a:solidFill>
              </a:rPr>
              <a:t>slojeva</a:t>
            </a:r>
            <a:r>
              <a:rPr lang="en-US" sz="950" dirty="0">
                <a:solidFill>
                  <a:srgbClr val="F0F4F8"/>
                </a:solidFill>
              </a:rPr>
              <a:t> 8-11 uz discriminative lr podiglo recall negativne klase: 70% → 94.4%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446520" y="3584448"/>
            <a:ext cx="54864" cy="384048"/>
          </a:xfrm>
          <a:prstGeom prst="rect">
            <a:avLst/>
          </a:prstGeom>
          <a:solidFill>
            <a:srgbClr val="1CB5E0"/>
          </a:solidFill>
          <a:ln w="12700">
            <a:solidFill>
              <a:srgbClr val="1CB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6537960" y="356616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0F4F8"/>
                </a:solidFill>
              </a:rPr>
              <a:t>Samo domenski trening donosi </a:t>
            </a:r>
            <a:r>
              <a:rPr lang="en-US" sz="950" dirty="0" err="1">
                <a:solidFill>
                  <a:srgbClr val="F0F4F8"/>
                </a:solidFill>
              </a:rPr>
              <a:t>skok</a:t>
            </a:r>
            <a:r>
              <a:rPr lang="en-US" sz="950" dirty="0">
                <a:solidFill>
                  <a:srgbClr val="F0F4F8"/>
                </a:solidFill>
              </a:rPr>
              <a:t> - arhitektura nije ključna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446520" y="4133088"/>
            <a:ext cx="54864" cy="384048"/>
          </a:xfrm>
          <a:prstGeom prst="rect">
            <a:avLst/>
          </a:prstGeom>
          <a:solidFill>
            <a:srgbClr val="1CB5E0"/>
          </a:solidFill>
          <a:ln w="12700">
            <a:solidFill>
              <a:srgbClr val="1CB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6537960" y="411480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0F4F8"/>
                </a:solidFill>
              </a:rPr>
              <a:t>GRU: ~320s ukupno na GPU-u, 421K parametara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7931A"/>
                </a:solidFill>
              </a:rPr>
              <a:t>04  Cenovna grana &amp; Fuzija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74320" y="91440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</a:rPr>
              <a:t>LSTM grana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325880"/>
            <a:ext cx="1783080" cy="731520"/>
          </a:xfrm>
          <a:prstGeom prst="rect">
            <a:avLst/>
          </a:prstGeom>
          <a:solidFill>
            <a:srgbClr val="FFF7ED"/>
          </a:solidFill>
          <a:ln w="12700">
            <a:solidFill>
              <a:srgbClr val="F7931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13258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7931A"/>
                </a:solidFill>
              </a:rPr>
              <a:t>OHLCV +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7931A"/>
                </a:solidFill>
              </a:rPr>
              <a:t>14 indikatora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075688" y="1691640"/>
            <a:ext cx="228600" cy="0"/>
          </a:xfrm>
          <a:prstGeom prst="line">
            <a:avLst/>
          </a:prstGeom>
          <a:noFill/>
          <a:ln w="19050">
            <a:solidFill>
              <a:srgbClr val="6B7A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304288" y="1325880"/>
            <a:ext cx="1783080" cy="731520"/>
          </a:xfrm>
          <a:prstGeom prst="rect">
            <a:avLst/>
          </a:prstGeom>
          <a:solidFill>
            <a:srgbClr val="FFF7ED"/>
          </a:solidFill>
          <a:ln w="12700">
            <a:solidFill>
              <a:srgbClr val="F7931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304288" y="13258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7931A"/>
                </a:solidFill>
              </a:rPr>
              <a:t>Stacked LSTM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7931A"/>
                </a:solidFill>
              </a:rPr>
              <a:t>128→64→32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05656" y="1691640"/>
            <a:ext cx="228600" cy="0"/>
          </a:xfrm>
          <a:prstGeom prst="line">
            <a:avLst/>
          </a:prstGeom>
          <a:noFill/>
          <a:ln w="19050">
            <a:solidFill>
              <a:srgbClr val="6B7A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334256" y="1325880"/>
            <a:ext cx="1783080" cy="731520"/>
          </a:xfrm>
          <a:prstGeom prst="rect">
            <a:avLst/>
          </a:prstGeom>
          <a:solidFill>
            <a:srgbClr val="FFF7ED"/>
          </a:solidFill>
          <a:ln w="12700">
            <a:solidFill>
              <a:srgbClr val="F7931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334256" y="13258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7931A"/>
                </a:solidFill>
              </a:rPr>
              <a:t>Dropout 0.3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35624" y="1691640"/>
            <a:ext cx="228600" cy="0"/>
          </a:xfrm>
          <a:prstGeom prst="line">
            <a:avLst/>
          </a:prstGeom>
          <a:noFill/>
          <a:ln w="19050">
            <a:solidFill>
              <a:srgbClr val="6B7A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364224" y="1325880"/>
            <a:ext cx="1783080" cy="731520"/>
          </a:xfrm>
          <a:prstGeom prst="rect">
            <a:avLst/>
          </a:prstGeom>
          <a:solidFill>
            <a:srgbClr val="FFF7ED"/>
          </a:solidFill>
          <a:ln w="12700">
            <a:solidFill>
              <a:srgbClr val="F7931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64224" y="13258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7931A"/>
                </a:solidFill>
              </a:rPr>
              <a:t>64-dim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7931A"/>
                </a:solidFill>
              </a:rPr>
              <a:t>vector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2194560"/>
            <a:ext cx="8595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74320" y="2194560"/>
            <a:ext cx="64008" cy="658368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29768" y="22128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Selekcija karakteristika: forward + backward elimination.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9768" y="2468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8D"/>
                </a:solidFill>
              </a:rPr>
              <a:t>Klasifikacija: prošireni </a:t>
            </a:r>
            <a:r>
              <a:rPr lang="en-US" sz="1000" dirty="0" err="1">
                <a:solidFill>
                  <a:srgbClr val="6B7A8D"/>
                </a:solidFill>
              </a:rPr>
              <a:t>skup</a:t>
            </a:r>
            <a:r>
              <a:rPr lang="en-US" sz="1000" dirty="0">
                <a:solidFill>
                  <a:srgbClr val="6B7A8D"/>
                </a:solidFill>
              </a:rPr>
              <a:t> 2017-2026, težine klasa za nebalans (STABLE 67.9% na test skupu).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74320" y="29718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1A1A2E"/>
                </a:solidFill>
              </a:rPr>
              <a:t>Fuzija</a:t>
            </a:r>
            <a:r>
              <a:rPr lang="en-US" sz="1300" b="1" dirty="0">
                <a:solidFill>
                  <a:srgbClr val="1A1A2E"/>
                </a:solidFill>
              </a:rPr>
              <a:t> - Multi-Head Attention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74320" y="3401568"/>
            <a:ext cx="164592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1CB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74320" y="340156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B5E0"/>
                </a:solidFill>
              </a:rPr>
              <a:t>Sentiment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CB5E0"/>
                </a:solidFill>
              </a:rPr>
              <a:t>64-dim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103120" y="3401568"/>
            <a:ext cx="1645920" cy="502920"/>
          </a:xfrm>
          <a:prstGeom prst="rect">
            <a:avLst/>
          </a:prstGeom>
          <a:solidFill>
            <a:srgbClr val="FFF7ED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103120" y="340156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7931A"/>
                </a:solidFill>
              </a:rPr>
              <a:t>Cenovna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7931A"/>
                </a:solidFill>
              </a:rPr>
              <a:t>64-dim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38528" y="3657600"/>
            <a:ext cx="164592" cy="0"/>
          </a:xfrm>
          <a:prstGeom prst="line">
            <a:avLst/>
          </a:prstGeom>
          <a:noFill/>
          <a:ln w="19050">
            <a:solidFill>
              <a:srgbClr val="6B7A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931920" y="3337560"/>
            <a:ext cx="1920240" cy="640080"/>
          </a:xfrm>
          <a:prstGeom prst="rect">
            <a:avLst/>
          </a:prstGeom>
          <a:solidFill>
            <a:srgbClr val="F0FDF4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931920" y="33375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D4BF"/>
                </a:solidFill>
              </a:rPr>
              <a:t>Concat 128-dim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2DD4BF"/>
                </a:solidFill>
              </a:rPr>
              <a:t>→ MHA (4 glave)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749040" y="3657600"/>
            <a:ext cx="182880" cy="0"/>
          </a:xfrm>
          <a:prstGeom prst="line">
            <a:avLst/>
          </a:prstGeom>
          <a:noFill/>
          <a:ln w="19050">
            <a:solidFill>
              <a:srgbClr val="6B7A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035040" y="3337560"/>
            <a:ext cx="14630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035040" y="333756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</a:rPr>
              <a:t>Dense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</a:rPr>
              <a:t>128→64→32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516368" y="3657600"/>
            <a:ext cx="182880" cy="0"/>
          </a:xfrm>
          <a:prstGeom prst="line">
            <a:avLst/>
          </a:prstGeom>
          <a:noFill/>
          <a:ln w="19050">
            <a:solidFill>
              <a:srgbClr val="6B7A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7699248" y="3191257"/>
            <a:ext cx="1170432" cy="43891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699248" y="3182112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7931A"/>
                </a:solidFill>
              </a:rPr>
              <a:t>Regresija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699248" y="3687646"/>
            <a:ext cx="1170432" cy="43891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7708392" y="3664131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B5E0"/>
                </a:solidFill>
              </a:rPr>
              <a:t>Klasifikacija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DD4BF"/>
                </a:solidFill>
              </a:rPr>
              <a:t>05  Rezultati i evaluacija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74320" y="9144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Regresija cene (24h, validacioni skup)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298448"/>
            <a:ext cx="4206240" cy="329184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29844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7931A"/>
                </a:solidFill>
              </a:rPr>
              <a:t>Model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971800" y="129844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7931A"/>
                </a:solidFill>
              </a:rPr>
              <a:t>MAE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899263" y="1303673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7931A"/>
                </a:solidFill>
              </a:rPr>
              <a:t>R²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645920"/>
            <a:ext cx="42062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0040" y="1645920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Baseline (naivni)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697480" y="164592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87171"/>
                </a:solidFill>
              </a:rPr>
              <a:t>1554$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11880" y="164592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87171"/>
                </a:solidFill>
              </a:rPr>
              <a:t>0.44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2029968"/>
            <a:ext cx="4206240" cy="347472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20040" y="2029968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</a:rPr>
              <a:t>LSTM 1-sloj (SGD)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697480" y="202996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D4BF"/>
                </a:solidFill>
              </a:rPr>
              <a:t>1389$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11880" y="202996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D4BF"/>
                </a:solidFill>
              </a:rPr>
              <a:t>0.583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0" y="2414016"/>
            <a:ext cx="42062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20040" y="2414016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LSTM 1-sloj (Adam)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697480" y="241401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87171"/>
                </a:solidFill>
              </a:rPr>
              <a:t>1627$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611880" y="241401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87171"/>
                </a:solidFill>
              </a:rPr>
              <a:t>0.44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2798064"/>
            <a:ext cx="42062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20040" y="2798064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LSTM 3-sloj (SGD)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697480" y="279806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87171"/>
                </a:solidFill>
              </a:rPr>
              <a:t>9781$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611880" y="279806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87171"/>
                </a:solidFill>
              </a:rPr>
              <a:t>−11.4 !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74320" y="33192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Klasifikacija pravca (test skup)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74320" y="3703320"/>
            <a:ext cx="420624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20040" y="3703320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Dummy (most-freq.)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606040" y="3703320"/>
            <a:ext cx="731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87171"/>
                </a:solidFill>
              </a:rPr>
              <a:t>67.9%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383280" y="3703320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A8D"/>
                </a:solidFill>
              </a:rPr>
              <a:t>uvek STABLE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4320" y="4032504"/>
            <a:ext cx="420624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20040" y="4032504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Random Forest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606040" y="4032504"/>
            <a:ext cx="731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87171"/>
                </a:solidFill>
              </a:rPr>
              <a:t>32.0%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383280" y="4032504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A8D"/>
                </a:solidFill>
              </a:rPr>
              <a:t>&lt; dummy!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74320" y="4361688"/>
            <a:ext cx="420624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20040" y="43616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LSTM (SGD)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606040" y="4361688"/>
            <a:ext cx="731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87171"/>
                </a:solidFill>
              </a:rPr>
              <a:t>63.2%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383280" y="4361688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A8D"/>
                </a:solidFill>
              </a:rPr>
              <a:t>&lt; dummy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74320" y="4690872"/>
            <a:ext cx="4206240" cy="301752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320040" y="4690872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GRU + Fuzija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606040" y="4690872"/>
            <a:ext cx="731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D4BF"/>
                </a:solidFill>
              </a:rPr>
              <a:t>40%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383280" y="4690872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A8D"/>
                </a:solidFill>
              </a:rPr>
              <a:t>target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800600" y="9144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BERT - per-class analiza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800600" y="1298448"/>
            <a:ext cx="4114800" cy="329184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4846320" y="1298448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7931A"/>
                </a:solidFill>
              </a:rPr>
              <a:t>Klasa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423660" y="1303673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7931A"/>
                </a:solidFill>
              </a:rPr>
              <a:t>Prec.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7292340" y="129844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7931A"/>
                </a:solidFill>
              </a:rPr>
              <a:t>Odziv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193677" y="1304979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7931A"/>
                </a:solidFill>
              </a:rPr>
              <a:t>F1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800600" y="1645920"/>
            <a:ext cx="411480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846320" y="164592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positive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172200" y="164592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0.966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7086600" y="164592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0.971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001000" y="164592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0.968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4800600" y="2029968"/>
            <a:ext cx="41148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4846320" y="202996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neutral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172200" y="202996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0.993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086600" y="202996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0.983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8001000" y="202996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0.988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4800600" y="2414016"/>
            <a:ext cx="411480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4846320" y="2414016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negative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6172200" y="241401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0.929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7086600" y="241401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0.944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8001000" y="241401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0.936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4800600" y="2880360"/>
            <a:ext cx="4114800" cy="2057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4892040" y="29260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7931A"/>
                </a:solidFill>
              </a:rPr>
              <a:t>Ablaciona </a:t>
            </a:r>
            <a:r>
              <a:rPr lang="en-US" sz="1100" b="1" dirty="0" err="1">
                <a:solidFill>
                  <a:srgbClr val="F7931A"/>
                </a:solidFill>
              </a:rPr>
              <a:t>studija</a:t>
            </a:r>
            <a:r>
              <a:rPr lang="en-US" sz="1100" b="1" dirty="0">
                <a:solidFill>
                  <a:srgbClr val="F7931A"/>
                </a:solidFill>
              </a:rPr>
              <a:t> - sentiment grana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4892040" y="3291840"/>
            <a:ext cx="2651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4F8"/>
                </a:solidFill>
              </a:rPr>
              <a:t>VADER Simple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7589520" y="3291840"/>
            <a:ext cx="1188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7171"/>
                </a:solidFill>
              </a:rPr>
              <a:t>41.8%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4892040" y="3621024"/>
            <a:ext cx="2651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4F8"/>
                </a:solidFill>
              </a:rPr>
              <a:t>GRU (epoha 1)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7589520" y="3621024"/>
            <a:ext cx="1188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7A8D"/>
                </a:solidFill>
              </a:rPr>
              <a:t>86.7%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892040" y="3950208"/>
            <a:ext cx="2651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4F8"/>
                </a:solidFill>
              </a:rPr>
              <a:t>GRU TF-IDF (pun)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7589520" y="3950208"/>
            <a:ext cx="1188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97.9%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4892040" y="4279392"/>
            <a:ext cx="2651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4F8"/>
                </a:solidFill>
              </a:rPr>
              <a:t>BERT zamrznut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7589520" y="4279392"/>
            <a:ext cx="1188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7931A"/>
                </a:solidFill>
              </a:rPr>
              <a:t>75.0%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4892040" y="4608576"/>
            <a:ext cx="2651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4F8"/>
                </a:solidFill>
              </a:rPr>
              <a:t>BERT </a:t>
            </a:r>
            <a:r>
              <a:rPr lang="en-US" sz="1000" dirty="0" err="1">
                <a:solidFill>
                  <a:srgbClr val="F0F4F8"/>
                </a:solidFill>
              </a:rPr>
              <a:t>odmrznut</a:t>
            </a:r>
            <a:r>
              <a:rPr lang="en-US" sz="1000" dirty="0">
                <a:solidFill>
                  <a:srgbClr val="F0F4F8"/>
                </a:solidFill>
              </a:rPr>
              <a:t> 8-11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7589520" y="4608576"/>
            <a:ext cx="1188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97.2%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7931A"/>
                </a:solidFill>
              </a:rPr>
              <a:t>06  Analiza grešaka &amp; Zaključak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74320" y="9144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Analiza </a:t>
            </a:r>
            <a:r>
              <a:rPr lang="en-US" sz="1200" b="1" dirty="0" err="1">
                <a:solidFill>
                  <a:srgbClr val="1A1A2E"/>
                </a:solidFill>
              </a:rPr>
              <a:t>grešaka</a:t>
            </a:r>
            <a:r>
              <a:rPr lang="en-US" sz="1200" b="1" dirty="0">
                <a:solidFill>
                  <a:srgbClr val="1A1A2E"/>
                </a:solidFill>
              </a:rPr>
              <a:t> - BERT sentiment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298448"/>
            <a:ext cx="42062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1298448"/>
            <a:ext cx="64008" cy="59436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1316736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Sarkazam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52704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8D"/>
                </a:solidFill>
              </a:rPr>
              <a:t>"Oh great, another pump and dump, very bullish!" → klasifikovan kao pozitivan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956816"/>
            <a:ext cx="42062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74320" y="1956816"/>
            <a:ext cx="64008" cy="59436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11480" y="1975104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Negacija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2185416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8D"/>
                </a:solidFill>
              </a:rPr>
              <a:t>"Bitcoin is NOT going to crash" → zbunjuje model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2615184"/>
            <a:ext cx="42062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74320" y="2615184"/>
            <a:ext cx="64008" cy="59436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11480" y="2633472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Bullish terminologija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" y="2843784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8D"/>
                </a:solidFill>
              </a:rPr>
              <a:t>Neutralni cenovni tvitovi dobijaju lažno pozitivnu oznaku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0" y="3310128"/>
            <a:ext cx="42062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74320" y="3310128"/>
            <a:ext cx="64008" cy="594360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11480" y="3328416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LSTM </a:t>
            </a:r>
            <a:r>
              <a:rPr lang="en-US" sz="1100" b="1" dirty="0" err="1">
                <a:solidFill>
                  <a:srgbClr val="1A1A2E"/>
                </a:solidFill>
              </a:rPr>
              <a:t>greška</a:t>
            </a:r>
            <a:r>
              <a:rPr lang="en-US" sz="1100" b="1" dirty="0">
                <a:solidFill>
                  <a:srgbClr val="1A1A2E"/>
                </a:solidFill>
              </a:rPr>
              <a:t> - volatilni periodi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11480" y="353872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8D"/>
                </a:solidFill>
              </a:rPr>
              <a:t>Kraj marta / početak aprila 2024 - iznenadne promene trenda nisu predvidive.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914400"/>
            <a:ext cx="4160520" cy="2057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46320" y="96012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7931A"/>
                </a:solidFill>
              </a:rPr>
              <a:t>Ključni doprinosi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846320" y="1371600"/>
            <a:ext cx="54864" cy="310896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983480" y="13533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4F8"/>
                </a:solidFill>
              </a:rPr>
              <a:t>GRU (97.9%) = BERT-u uz 68× manje parametara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46320" y="1755648"/>
            <a:ext cx="54864" cy="310896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983480" y="17373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4F8"/>
                </a:solidFill>
              </a:rPr>
              <a:t>Odmrzavanje </a:t>
            </a:r>
            <a:r>
              <a:rPr lang="en-US" sz="1000" dirty="0" err="1">
                <a:solidFill>
                  <a:srgbClr val="F0F4F8"/>
                </a:solidFill>
              </a:rPr>
              <a:t>slojeva</a:t>
            </a:r>
            <a:r>
              <a:rPr lang="en-US" sz="1000" dirty="0">
                <a:solidFill>
                  <a:srgbClr val="F0F4F8"/>
                </a:solidFill>
              </a:rPr>
              <a:t> 8-11: recall neg. klase 70%→94.4%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846320" y="2139696"/>
            <a:ext cx="54864" cy="310896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983480" y="212140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4F8"/>
                </a:solidFill>
              </a:rPr>
              <a:t>Linearna </a:t>
            </a:r>
            <a:r>
              <a:rPr lang="en-US" sz="1000" dirty="0" err="1">
                <a:solidFill>
                  <a:srgbClr val="F0F4F8"/>
                </a:solidFill>
              </a:rPr>
              <a:t>korelacija</a:t>
            </a:r>
            <a:r>
              <a:rPr lang="en-US" sz="1000" dirty="0">
                <a:solidFill>
                  <a:srgbClr val="F0F4F8"/>
                </a:solidFill>
              </a:rPr>
              <a:t> sentiment-</a:t>
            </a:r>
            <a:r>
              <a:rPr lang="en-US" sz="1000" dirty="0" err="1">
                <a:solidFill>
                  <a:srgbClr val="F0F4F8"/>
                </a:solidFill>
              </a:rPr>
              <a:t>cena</a:t>
            </a:r>
            <a:r>
              <a:rPr lang="en-US" sz="1000" dirty="0">
                <a:solidFill>
                  <a:srgbClr val="F0F4F8"/>
                </a:solidFill>
              </a:rPr>
              <a:t> = 0 → motiviše nelinearne modele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46320" y="2523744"/>
            <a:ext cx="54864" cy="310896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983480" y="250545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4F8"/>
                </a:solidFill>
              </a:rPr>
              <a:t>SGD LSTM jedini nadmašuje baseline (R²=0.583 vs 0.44)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54880" y="3063240"/>
            <a:ext cx="41605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846320" y="310896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Budući rad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846320" y="3493008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1.  Eksplicitno modelovanje lag-a sentiment-</a:t>
            </a:r>
            <a:r>
              <a:rPr lang="en-US" sz="1000" dirty="0" err="1">
                <a:solidFill>
                  <a:srgbClr val="1A1A2E"/>
                </a:solidFill>
              </a:rPr>
              <a:t>cena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46320" y="3803904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2.  Duži horizonti (30/90 dana) - jača korelacija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846320" y="411480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3.  Reddit, Telegram, on-chain metrike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46320" y="4425696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4.  Grid/random search hiperparametara fuzije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1371600"/>
            <a:ext cx="8503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Hvala na pažnji!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320040" y="228600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Pitanja?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3017520"/>
            <a:ext cx="8503920" cy="27432"/>
          </a:xfrm>
          <a:prstGeom prst="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20040" y="315468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0F4F8"/>
                </a:solidFill>
              </a:rPr>
              <a:t>Boris Letić  </a:t>
            </a:r>
            <a:r>
              <a:rPr lang="en-US" sz="1200" dirty="0">
                <a:solidFill>
                  <a:srgbClr val="6B7A8D"/>
                </a:solidFill>
              </a:rPr>
              <a:t>letic.e2126.2025@uns.ac.rs    |    </a:t>
            </a:r>
            <a:r>
              <a:rPr lang="en-US" sz="1300" b="1" dirty="0">
                <a:solidFill>
                  <a:srgbClr val="F0F4F8"/>
                </a:solidFill>
              </a:rPr>
              <a:t>Bogdan Čiplić  </a:t>
            </a:r>
            <a:r>
              <a:rPr lang="en-US" sz="1200" dirty="0">
                <a:solidFill>
                  <a:srgbClr val="6B7A8D"/>
                </a:solidFill>
              </a:rPr>
              <a:t>ciplic.r228.2025@uns.ac.rs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20040" y="370332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A8D"/>
                </a:solidFill>
              </a:rPr>
              <a:t>FTN Novi Sad · </a:t>
            </a:r>
            <a:r>
              <a:rPr lang="en-US" sz="1200" dirty="0" err="1">
                <a:solidFill>
                  <a:srgbClr val="6B7A8D"/>
                </a:solidFill>
              </a:rPr>
              <a:t>Neuronske</a:t>
            </a:r>
            <a:r>
              <a:rPr lang="en-US" sz="1200" dirty="0">
                <a:solidFill>
                  <a:srgbClr val="6B7A8D"/>
                </a:solidFill>
              </a:rPr>
              <a:t> mreže · 2026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" y="4251960"/>
            <a:ext cx="1965960" cy="658368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7931A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0040" y="425196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7931A"/>
                </a:solidFill>
              </a:rPr>
              <a:t>97.9%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20040" y="463600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GRU tačnost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589020" y="4251960"/>
            <a:ext cx="1965960" cy="658368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7931A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689604" y="4237591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7931A"/>
                </a:solidFill>
              </a:rPr>
              <a:t>68×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639312" y="4613801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manji od BERT-a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858000" y="4251960"/>
            <a:ext cx="1965960" cy="658368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7931A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858000" y="425196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7931A"/>
                </a:solidFill>
              </a:rPr>
              <a:t>0.583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864531" y="4621639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R² LSTM (SGD)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829</Words>
  <Application>Microsoft Office PowerPoint</Application>
  <PresentationFormat>On-screen Show (16:9)</PresentationFormat>
  <Paragraphs>221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Predikcija Bitcoin cene — Multimodalne duboke neuronske mreže</dc:title>
  <dc:subject>PptxGenJS Presentation</dc:subject>
  <dc:creator>PptxGenJS</dc:creator>
  <cp:lastModifiedBy>Boris Letic</cp:lastModifiedBy>
  <cp:revision>14</cp:revision>
  <dcterms:created xsi:type="dcterms:W3CDTF">2026-04-14T23:12:53Z</dcterms:created>
  <dcterms:modified xsi:type="dcterms:W3CDTF">2026-04-14T23:39:33Z</dcterms:modified>
</cp:coreProperties>
</file>